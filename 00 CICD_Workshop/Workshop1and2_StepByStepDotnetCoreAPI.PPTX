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8" r:id="rId10"/>
    <p:sldId id="269" r:id="rId11"/>
    <p:sldId id="270" r:id="rId12"/>
    <p:sldId id="271" r:id="rId13"/>
    <p:sldId id="272" r:id="rId14"/>
    <p:sldId id="273" r:id="rId15"/>
    <p:sldId id="275" r:id="rId16"/>
    <p:sldId id="276" r:id="rId17"/>
    <p:sldId id="278" r:id="rId18"/>
    <p:sldId id="280" r:id="rId19"/>
    <p:sldId id="279" r:id="rId20"/>
    <p:sldId id="281" r:id="rId21"/>
    <p:sldId id="283" r:id="rId22"/>
    <p:sldId id="282" r:id="rId23"/>
    <p:sldId id="28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94660"/>
  </p:normalViewPr>
  <p:slideViewPr>
    <p:cSldViewPr snapToGrid="0">
      <p:cViewPr>
        <p:scale>
          <a:sx n="99" d="100"/>
          <a:sy n="99" d="100"/>
        </p:scale>
        <p:origin x="2100" y="1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E4EB9A-80CE-4F9A-B12F-FCC83B57E67E}" type="doc">
      <dgm:prSet loTypeId="urn:microsoft.com/office/officeart/2005/8/layout/StepDownProcess" loCatId="process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8F869D-84AD-45D3-9C93-3EE75F8FDDFF}">
      <dgm:prSet phldrT="[Text]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solidFill>
          <a:schemeClr val="bg1">
            <a:lumMod val="85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en-US" dirty="0"/>
            <a:t>Develop your app</a:t>
          </a:r>
        </a:p>
      </dgm:t>
    </dgm:pt>
    <dgm:pt modelId="{43FB73A6-9BE7-407E-9F33-46A5593D40DD}" type="parTrans" cxnId="{8AC45EEE-AD3C-4F23-BD50-EF14EE39BB84}">
      <dgm:prSet/>
      <dgm:spPr/>
      <dgm:t>
        <a:bodyPr/>
        <a:lstStyle/>
        <a:p>
          <a:endParaRPr lang="en-US"/>
        </a:p>
      </dgm:t>
    </dgm:pt>
    <dgm:pt modelId="{A2D2A382-0DEF-4335-B6C7-20E2D3D41DDC}" type="sibTrans" cxnId="{8AC45EEE-AD3C-4F23-BD50-EF14EE39BB84}">
      <dgm:prSet/>
      <dgm:spPr/>
      <dgm:t>
        <a:bodyPr/>
        <a:lstStyle/>
        <a:p>
          <a:endParaRPr lang="en-US"/>
        </a:p>
      </dgm:t>
    </dgm:pt>
    <dgm:pt modelId="{DB137F92-14C8-45F4-8D78-1B6ADB53339E}">
      <dgm:prSet phldrT="[Text]"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solidFill>
          <a:schemeClr val="bg1">
            <a:lumMod val="85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en-US" dirty="0"/>
            <a:t>Create a Docker Image for your App and Push it to Docker Repo</a:t>
          </a:r>
        </a:p>
      </dgm:t>
    </dgm:pt>
    <dgm:pt modelId="{BD4F1B51-CA50-493D-9926-65AF6BEA5A28}" type="parTrans" cxnId="{558880B2-022B-4982-9A72-FDE1493ED8E0}">
      <dgm:prSet/>
      <dgm:spPr/>
      <dgm:t>
        <a:bodyPr/>
        <a:lstStyle/>
        <a:p>
          <a:endParaRPr lang="en-US"/>
        </a:p>
      </dgm:t>
    </dgm:pt>
    <dgm:pt modelId="{F9FE1D4D-8B49-4B3F-A01C-84F03D9FAF2B}" type="sibTrans" cxnId="{558880B2-022B-4982-9A72-FDE1493ED8E0}">
      <dgm:prSet/>
      <dgm:spPr/>
      <dgm:t>
        <a:bodyPr/>
        <a:lstStyle/>
        <a:p>
          <a:endParaRPr lang="en-US"/>
        </a:p>
      </dgm:t>
    </dgm:pt>
    <dgm:pt modelId="{22F1E164-5EBD-4C2A-AEBE-01FF4FB9B42A}">
      <dgm:prSet phldrT="[Text]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Create Kubernetes Deployment object manifests</a:t>
          </a:r>
        </a:p>
      </dgm:t>
    </dgm:pt>
    <dgm:pt modelId="{457E5B6D-0DE5-493F-BADD-8C056B4EAC0B}" type="parTrans" cxnId="{A831C1ED-61D5-4CCC-8B3D-69D56663D32F}">
      <dgm:prSet/>
      <dgm:spPr/>
      <dgm:t>
        <a:bodyPr/>
        <a:lstStyle/>
        <a:p>
          <a:endParaRPr lang="en-US"/>
        </a:p>
      </dgm:t>
    </dgm:pt>
    <dgm:pt modelId="{012A8EA9-F05D-40A8-8C2A-3002AA9CC401}" type="sibTrans" cxnId="{A831C1ED-61D5-4CCC-8B3D-69D56663D32F}">
      <dgm:prSet/>
      <dgm:spPr/>
      <dgm:t>
        <a:bodyPr/>
        <a:lstStyle/>
        <a:p>
          <a:endParaRPr lang="en-US"/>
        </a:p>
      </dgm:t>
    </dgm:pt>
    <dgm:pt modelId="{3E5DB7DD-34F9-4530-9B9D-6EAAA9E0B914}">
      <dgm:prSet phldrT="[Text]"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Login to Kubernetes </a:t>
          </a:r>
        </a:p>
      </dgm:t>
    </dgm:pt>
    <dgm:pt modelId="{8F59F799-AB94-4B0E-86FB-9E10019C4527}" type="parTrans" cxnId="{5BEE98DA-100C-407F-9C5B-478FADEEF3DC}">
      <dgm:prSet/>
      <dgm:spPr/>
      <dgm:t>
        <a:bodyPr/>
        <a:lstStyle/>
        <a:p>
          <a:endParaRPr lang="en-US"/>
        </a:p>
      </dgm:t>
    </dgm:pt>
    <dgm:pt modelId="{00BA2CA1-AD3D-47CD-BFE0-8EB2EEA0A875}" type="sibTrans" cxnId="{5BEE98DA-100C-407F-9C5B-478FADEEF3DC}">
      <dgm:prSet/>
      <dgm:spPr/>
      <dgm:t>
        <a:bodyPr/>
        <a:lstStyle/>
        <a:p>
          <a:endParaRPr lang="en-US"/>
        </a:p>
      </dgm:t>
    </dgm:pt>
    <dgm:pt modelId="{9F44D9A3-73B8-4B85-B679-918A1F09BFD1}">
      <dgm:prSet phldrT="[Text]"/>
      <dgm:spPr/>
      <dgm:t>
        <a:bodyPr/>
        <a:lstStyle/>
        <a:p>
          <a:r>
            <a:rPr lang="en-US" dirty="0"/>
            <a:t>Deployment YML</a:t>
          </a:r>
        </a:p>
      </dgm:t>
    </dgm:pt>
    <dgm:pt modelId="{27D09131-BBD8-455C-B8BA-7F27EBAC6A29}" type="parTrans" cxnId="{7A1799FB-B2FF-4778-8C05-41D4D1166B8F}">
      <dgm:prSet/>
      <dgm:spPr/>
      <dgm:t>
        <a:bodyPr/>
        <a:lstStyle/>
        <a:p>
          <a:endParaRPr lang="en-US"/>
        </a:p>
      </dgm:t>
    </dgm:pt>
    <dgm:pt modelId="{5A3CE2FF-6F41-443A-98DC-B5055E22EBC3}" type="sibTrans" cxnId="{7A1799FB-B2FF-4778-8C05-41D4D1166B8F}">
      <dgm:prSet/>
      <dgm:spPr/>
      <dgm:t>
        <a:bodyPr/>
        <a:lstStyle/>
        <a:p>
          <a:endParaRPr lang="en-US"/>
        </a:p>
      </dgm:t>
    </dgm:pt>
    <dgm:pt modelId="{097D9CE1-04F8-4B5F-A2DB-781E8F296A9B}">
      <dgm:prSet phldrT="[Text]"/>
      <dgm:spPr/>
      <dgm:t>
        <a:bodyPr/>
        <a:lstStyle/>
        <a:p>
          <a:r>
            <a:rPr lang="en-US" dirty="0"/>
            <a:t>Service YML</a:t>
          </a:r>
        </a:p>
      </dgm:t>
    </dgm:pt>
    <dgm:pt modelId="{E35A576E-A242-4D01-A75F-A00AA53F1C7E}" type="parTrans" cxnId="{DB76C3EB-C3C5-4E71-B34D-CD1CA2CF9391}">
      <dgm:prSet/>
      <dgm:spPr/>
      <dgm:t>
        <a:bodyPr/>
        <a:lstStyle/>
        <a:p>
          <a:endParaRPr lang="en-US"/>
        </a:p>
      </dgm:t>
    </dgm:pt>
    <dgm:pt modelId="{88FF9202-F321-4B24-A794-B5BB1198E7DE}" type="sibTrans" cxnId="{DB76C3EB-C3C5-4E71-B34D-CD1CA2CF9391}">
      <dgm:prSet/>
      <dgm:spPr/>
      <dgm:t>
        <a:bodyPr/>
        <a:lstStyle/>
        <a:p>
          <a:endParaRPr lang="en-US"/>
        </a:p>
      </dgm:t>
    </dgm:pt>
    <dgm:pt modelId="{4F3E209B-2102-4820-A964-C03709D219E4}">
      <dgm:prSet phldrT="[Text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Deploy to Kubernetes</a:t>
          </a:r>
        </a:p>
      </dgm:t>
    </dgm:pt>
    <dgm:pt modelId="{5E40EDBB-CBC2-4171-82C2-CBF539E560B6}" type="parTrans" cxnId="{41842885-F7AF-437C-B82D-A2CC6CBC7A9E}">
      <dgm:prSet/>
      <dgm:spPr/>
      <dgm:t>
        <a:bodyPr/>
        <a:lstStyle/>
        <a:p>
          <a:endParaRPr lang="en-US"/>
        </a:p>
      </dgm:t>
    </dgm:pt>
    <dgm:pt modelId="{09D2C9C5-58F9-4D01-B2E2-146BC10F86A2}" type="sibTrans" cxnId="{41842885-F7AF-437C-B82D-A2CC6CBC7A9E}">
      <dgm:prSet/>
      <dgm:spPr/>
      <dgm:t>
        <a:bodyPr/>
        <a:lstStyle/>
        <a:p>
          <a:endParaRPr lang="en-US"/>
        </a:p>
      </dgm:t>
    </dgm:pt>
    <dgm:pt modelId="{B375432B-CC4C-4871-8B48-13367395FAE0}" type="pres">
      <dgm:prSet presAssocID="{6DE4EB9A-80CE-4F9A-B12F-FCC83B57E67E}" presName="rootnode" presStyleCnt="0">
        <dgm:presLayoutVars>
          <dgm:chMax/>
          <dgm:chPref/>
          <dgm:dir/>
          <dgm:animLvl val="lvl"/>
        </dgm:presLayoutVars>
      </dgm:prSet>
      <dgm:spPr/>
    </dgm:pt>
    <dgm:pt modelId="{A0B5771F-35C0-429A-96BC-CCB7C6A7B945}" type="pres">
      <dgm:prSet presAssocID="{558F869D-84AD-45D3-9C93-3EE75F8FDDFF}" presName="composite" presStyleCnt="0"/>
      <dgm:spPr/>
    </dgm:pt>
    <dgm:pt modelId="{D81F4CCF-6A2A-4750-AE96-9364107C95FC}" type="pres">
      <dgm:prSet presAssocID="{558F869D-84AD-45D3-9C93-3EE75F8FDDFF}" presName="bentUpArrow1" presStyleLbl="alignImgPlace1" presStyleIdx="0" presStyleCnt="4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0E5DA13B-90F6-46D4-925D-AF5959C6B37E}" type="pres">
      <dgm:prSet presAssocID="{558F869D-84AD-45D3-9C93-3EE75F8FDDFF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E32F402A-110D-47CA-ABEB-E458AF1FE96E}" type="pres">
      <dgm:prSet presAssocID="{558F869D-84AD-45D3-9C93-3EE75F8FDDFF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B6A14947-D037-4DD1-8379-55820A9D2AD3}" type="pres">
      <dgm:prSet presAssocID="{A2D2A382-0DEF-4335-B6C7-20E2D3D41DDC}" presName="sibTrans" presStyleCnt="0"/>
      <dgm:spPr/>
    </dgm:pt>
    <dgm:pt modelId="{6A8A1D48-FB0D-4724-A01C-0153D04D725C}" type="pres">
      <dgm:prSet presAssocID="{DB137F92-14C8-45F4-8D78-1B6ADB53339E}" presName="composite" presStyleCnt="0"/>
      <dgm:spPr/>
    </dgm:pt>
    <dgm:pt modelId="{18D9A5F3-444D-4C38-AB59-47EA002E70B7}" type="pres">
      <dgm:prSet presAssocID="{DB137F92-14C8-45F4-8D78-1B6ADB53339E}" presName="bentUpArrow1" presStyleLbl="alignImgPlace1" presStyleIdx="1" presStyleCnt="4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30D82FF9-C567-4E7F-AA05-2D54B28BC467}" type="pres">
      <dgm:prSet presAssocID="{DB137F92-14C8-45F4-8D78-1B6ADB53339E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2144E671-7D0E-4A95-8E95-826A06F6A811}" type="pres">
      <dgm:prSet presAssocID="{DB137F92-14C8-45F4-8D78-1B6ADB53339E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AF0C8688-E600-4FB0-B6E9-DAA8BB0B2C9E}" type="pres">
      <dgm:prSet presAssocID="{F9FE1D4D-8B49-4B3F-A01C-84F03D9FAF2B}" presName="sibTrans" presStyleCnt="0"/>
      <dgm:spPr/>
    </dgm:pt>
    <dgm:pt modelId="{0C37419B-552B-4D06-8A47-9EF90A7DA0CA}" type="pres">
      <dgm:prSet presAssocID="{22F1E164-5EBD-4C2A-AEBE-01FF4FB9B42A}" presName="composite" presStyleCnt="0"/>
      <dgm:spPr/>
    </dgm:pt>
    <dgm:pt modelId="{31EDCE19-DB82-44C5-B705-E4E1F9894793}" type="pres">
      <dgm:prSet presAssocID="{22F1E164-5EBD-4C2A-AEBE-01FF4FB9B42A}" presName="bentUpArrow1" presStyleLbl="alignImgPlace1" presStyleIdx="2" presStyleCnt="4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406468D9-5DE7-4F0A-BD1D-1FC1DBE04E7E}" type="pres">
      <dgm:prSet presAssocID="{22F1E164-5EBD-4C2A-AEBE-01FF4FB9B42A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D8E56A9C-0E0C-4530-B743-0D67F50FF8F4}" type="pres">
      <dgm:prSet presAssocID="{22F1E164-5EBD-4C2A-AEBE-01FF4FB9B42A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C5B5184-4F78-4841-AA28-80EBB234AD41}" type="pres">
      <dgm:prSet presAssocID="{012A8EA9-F05D-40A8-8C2A-3002AA9CC401}" presName="sibTrans" presStyleCnt="0"/>
      <dgm:spPr/>
    </dgm:pt>
    <dgm:pt modelId="{C38FC99B-4B28-4BFF-A7D3-1C4E1983A4F6}" type="pres">
      <dgm:prSet presAssocID="{3E5DB7DD-34F9-4530-9B9D-6EAAA9E0B914}" presName="composite" presStyleCnt="0"/>
      <dgm:spPr/>
    </dgm:pt>
    <dgm:pt modelId="{12CC1C5C-6102-4E2F-A708-4279052B1263}" type="pres">
      <dgm:prSet presAssocID="{3E5DB7DD-34F9-4530-9B9D-6EAAA9E0B914}" presName="bentUpArrow1" presStyleLbl="alignImgPlace1" presStyleIdx="3" presStyleCnt="4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11383A83-32EC-4F09-83EB-87544DAD948D}" type="pres">
      <dgm:prSet presAssocID="{3E5DB7DD-34F9-4530-9B9D-6EAAA9E0B914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9A58F0F7-A339-4B54-82B8-9649A42E6043}" type="pres">
      <dgm:prSet presAssocID="{3E5DB7DD-34F9-4530-9B9D-6EAAA9E0B914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7F9DAAD9-1655-4215-8624-ABDFC044B5B9}" type="pres">
      <dgm:prSet presAssocID="{00BA2CA1-AD3D-47CD-BFE0-8EB2EEA0A875}" presName="sibTrans" presStyleCnt="0"/>
      <dgm:spPr/>
    </dgm:pt>
    <dgm:pt modelId="{2CC634D8-57E5-4C78-B5FB-66E57C9EEC8A}" type="pres">
      <dgm:prSet presAssocID="{4F3E209B-2102-4820-A964-C03709D219E4}" presName="composite" presStyleCnt="0"/>
      <dgm:spPr/>
    </dgm:pt>
    <dgm:pt modelId="{B9C51D52-F430-452D-A769-992D297B1595}" type="pres">
      <dgm:prSet presAssocID="{4F3E209B-2102-4820-A964-C03709D219E4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1FE6E70A-032C-4C91-B95A-352CA870E824}" type="presOf" srcId="{558F869D-84AD-45D3-9C93-3EE75F8FDDFF}" destId="{0E5DA13B-90F6-46D4-925D-AF5959C6B37E}" srcOrd="0" destOrd="0" presId="urn:microsoft.com/office/officeart/2005/8/layout/StepDownProcess"/>
    <dgm:cxn modelId="{C71D6541-E521-40CE-BD06-8CDE4FD7B091}" type="presOf" srcId="{9F44D9A3-73B8-4B85-B679-918A1F09BFD1}" destId="{D8E56A9C-0E0C-4530-B743-0D67F50FF8F4}" srcOrd="0" destOrd="0" presId="urn:microsoft.com/office/officeart/2005/8/layout/StepDownProcess"/>
    <dgm:cxn modelId="{61AC3E6F-FC25-401D-8AAC-80425E87E7BF}" type="presOf" srcId="{097D9CE1-04F8-4B5F-A2DB-781E8F296A9B}" destId="{D8E56A9C-0E0C-4530-B743-0D67F50FF8F4}" srcOrd="0" destOrd="1" presId="urn:microsoft.com/office/officeart/2005/8/layout/StepDownProcess"/>
    <dgm:cxn modelId="{D9F59C71-32AB-4892-AA02-1C1F9514A1B9}" type="presOf" srcId="{6DE4EB9A-80CE-4F9A-B12F-FCC83B57E67E}" destId="{B375432B-CC4C-4871-8B48-13367395FAE0}" srcOrd="0" destOrd="0" presId="urn:microsoft.com/office/officeart/2005/8/layout/StepDownProcess"/>
    <dgm:cxn modelId="{41842885-F7AF-437C-B82D-A2CC6CBC7A9E}" srcId="{6DE4EB9A-80CE-4F9A-B12F-FCC83B57E67E}" destId="{4F3E209B-2102-4820-A964-C03709D219E4}" srcOrd="4" destOrd="0" parTransId="{5E40EDBB-CBC2-4171-82C2-CBF539E560B6}" sibTransId="{09D2C9C5-58F9-4D01-B2E2-146BC10F86A2}"/>
    <dgm:cxn modelId="{E11E8A86-EF1A-4B12-A183-293EFC16536D}" type="presOf" srcId="{DB137F92-14C8-45F4-8D78-1B6ADB53339E}" destId="{30D82FF9-C567-4E7F-AA05-2D54B28BC467}" srcOrd="0" destOrd="0" presId="urn:microsoft.com/office/officeart/2005/8/layout/StepDownProcess"/>
    <dgm:cxn modelId="{8BF46295-B4F9-4530-8FAF-6F8171FAA5E5}" type="presOf" srcId="{4F3E209B-2102-4820-A964-C03709D219E4}" destId="{B9C51D52-F430-452D-A769-992D297B1595}" srcOrd="0" destOrd="0" presId="urn:microsoft.com/office/officeart/2005/8/layout/StepDownProcess"/>
    <dgm:cxn modelId="{35EDC2AE-D778-4C6D-9DAD-A625EDF6197E}" type="presOf" srcId="{22F1E164-5EBD-4C2A-AEBE-01FF4FB9B42A}" destId="{406468D9-5DE7-4F0A-BD1D-1FC1DBE04E7E}" srcOrd="0" destOrd="0" presId="urn:microsoft.com/office/officeart/2005/8/layout/StepDownProcess"/>
    <dgm:cxn modelId="{FC3E74B0-39E3-4157-844B-2C266B519C26}" type="presOf" srcId="{3E5DB7DD-34F9-4530-9B9D-6EAAA9E0B914}" destId="{11383A83-32EC-4F09-83EB-87544DAD948D}" srcOrd="0" destOrd="0" presId="urn:microsoft.com/office/officeart/2005/8/layout/StepDownProcess"/>
    <dgm:cxn modelId="{558880B2-022B-4982-9A72-FDE1493ED8E0}" srcId="{6DE4EB9A-80CE-4F9A-B12F-FCC83B57E67E}" destId="{DB137F92-14C8-45F4-8D78-1B6ADB53339E}" srcOrd="1" destOrd="0" parTransId="{BD4F1B51-CA50-493D-9926-65AF6BEA5A28}" sibTransId="{F9FE1D4D-8B49-4B3F-A01C-84F03D9FAF2B}"/>
    <dgm:cxn modelId="{5BEE98DA-100C-407F-9C5B-478FADEEF3DC}" srcId="{6DE4EB9A-80CE-4F9A-B12F-FCC83B57E67E}" destId="{3E5DB7DD-34F9-4530-9B9D-6EAAA9E0B914}" srcOrd="3" destOrd="0" parTransId="{8F59F799-AB94-4B0E-86FB-9E10019C4527}" sibTransId="{00BA2CA1-AD3D-47CD-BFE0-8EB2EEA0A875}"/>
    <dgm:cxn modelId="{DB76C3EB-C3C5-4E71-B34D-CD1CA2CF9391}" srcId="{22F1E164-5EBD-4C2A-AEBE-01FF4FB9B42A}" destId="{097D9CE1-04F8-4B5F-A2DB-781E8F296A9B}" srcOrd="1" destOrd="0" parTransId="{E35A576E-A242-4D01-A75F-A00AA53F1C7E}" sibTransId="{88FF9202-F321-4B24-A794-B5BB1198E7DE}"/>
    <dgm:cxn modelId="{A831C1ED-61D5-4CCC-8B3D-69D56663D32F}" srcId="{6DE4EB9A-80CE-4F9A-B12F-FCC83B57E67E}" destId="{22F1E164-5EBD-4C2A-AEBE-01FF4FB9B42A}" srcOrd="2" destOrd="0" parTransId="{457E5B6D-0DE5-493F-BADD-8C056B4EAC0B}" sibTransId="{012A8EA9-F05D-40A8-8C2A-3002AA9CC401}"/>
    <dgm:cxn modelId="{8AC45EEE-AD3C-4F23-BD50-EF14EE39BB84}" srcId="{6DE4EB9A-80CE-4F9A-B12F-FCC83B57E67E}" destId="{558F869D-84AD-45D3-9C93-3EE75F8FDDFF}" srcOrd="0" destOrd="0" parTransId="{43FB73A6-9BE7-407E-9F33-46A5593D40DD}" sibTransId="{A2D2A382-0DEF-4335-B6C7-20E2D3D41DDC}"/>
    <dgm:cxn modelId="{7A1799FB-B2FF-4778-8C05-41D4D1166B8F}" srcId="{22F1E164-5EBD-4C2A-AEBE-01FF4FB9B42A}" destId="{9F44D9A3-73B8-4B85-B679-918A1F09BFD1}" srcOrd="0" destOrd="0" parTransId="{27D09131-BBD8-455C-B8BA-7F27EBAC6A29}" sibTransId="{5A3CE2FF-6F41-443A-98DC-B5055E22EBC3}"/>
    <dgm:cxn modelId="{AA10F888-ABED-47DD-9EF0-9901AA1B34B1}" type="presParOf" srcId="{B375432B-CC4C-4871-8B48-13367395FAE0}" destId="{A0B5771F-35C0-429A-96BC-CCB7C6A7B945}" srcOrd="0" destOrd="0" presId="urn:microsoft.com/office/officeart/2005/8/layout/StepDownProcess"/>
    <dgm:cxn modelId="{769CB952-9F5F-4618-B76A-359CF34EA618}" type="presParOf" srcId="{A0B5771F-35C0-429A-96BC-CCB7C6A7B945}" destId="{D81F4CCF-6A2A-4750-AE96-9364107C95FC}" srcOrd="0" destOrd="0" presId="urn:microsoft.com/office/officeart/2005/8/layout/StepDownProcess"/>
    <dgm:cxn modelId="{423123A1-F9C1-4F5F-840D-3ACFF4A8B26C}" type="presParOf" srcId="{A0B5771F-35C0-429A-96BC-CCB7C6A7B945}" destId="{0E5DA13B-90F6-46D4-925D-AF5959C6B37E}" srcOrd="1" destOrd="0" presId="urn:microsoft.com/office/officeart/2005/8/layout/StepDownProcess"/>
    <dgm:cxn modelId="{D7E906E3-208F-4745-A9F9-8068BABFC933}" type="presParOf" srcId="{A0B5771F-35C0-429A-96BC-CCB7C6A7B945}" destId="{E32F402A-110D-47CA-ABEB-E458AF1FE96E}" srcOrd="2" destOrd="0" presId="urn:microsoft.com/office/officeart/2005/8/layout/StepDownProcess"/>
    <dgm:cxn modelId="{CE117F72-165B-4C8A-8CE0-D4FB5C57909C}" type="presParOf" srcId="{B375432B-CC4C-4871-8B48-13367395FAE0}" destId="{B6A14947-D037-4DD1-8379-55820A9D2AD3}" srcOrd="1" destOrd="0" presId="urn:microsoft.com/office/officeart/2005/8/layout/StepDownProcess"/>
    <dgm:cxn modelId="{B59E21B3-52FF-4438-AB9F-39CAD4471457}" type="presParOf" srcId="{B375432B-CC4C-4871-8B48-13367395FAE0}" destId="{6A8A1D48-FB0D-4724-A01C-0153D04D725C}" srcOrd="2" destOrd="0" presId="urn:microsoft.com/office/officeart/2005/8/layout/StepDownProcess"/>
    <dgm:cxn modelId="{37AC4BFE-8A0C-4B9D-9E0B-AA91B17E32DA}" type="presParOf" srcId="{6A8A1D48-FB0D-4724-A01C-0153D04D725C}" destId="{18D9A5F3-444D-4C38-AB59-47EA002E70B7}" srcOrd="0" destOrd="0" presId="urn:microsoft.com/office/officeart/2005/8/layout/StepDownProcess"/>
    <dgm:cxn modelId="{B00E5CE5-B55D-431D-8BA9-AE2B7C7620C4}" type="presParOf" srcId="{6A8A1D48-FB0D-4724-A01C-0153D04D725C}" destId="{30D82FF9-C567-4E7F-AA05-2D54B28BC467}" srcOrd="1" destOrd="0" presId="urn:microsoft.com/office/officeart/2005/8/layout/StepDownProcess"/>
    <dgm:cxn modelId="{74A5E073-534C-4CE1-BBC0-9CE5A544CF6B}" type="presParOf" srcId="{6A8A1D48-FB0D-4724-A01C-0153D04D725C}" destId="{2144E671-7D0E-4A95-8E95-826A06F6A811}" srcOrd="2" destOrd="0" presId="urn:microsoft.com/office/officeart/2005/8/layout/StepDownProcess"/>
    <dgm:cxn modelId="{91D9295F-3795-4688-8AE0-5CEB4AA6B752}" type="presParOf" srcId="{B375432B-CC4C-4871-8B48-13367395FAE0}" destId="{AF0C8688-E600-4FB0-B6E9-DAA8BB0B2C9E}" srcOrd="3" destOrd="0" presId="urn:microsoft.com/office/officeart/2005/8/layout/StepDownProcess"/>
    <dgm:cxn modelId="{B17265C8-7F32-4F83-99A9-AB2B0CCBA677}" type="presParOf" srcId="{B375432B-CC4C-4871-8B48-13367395FAE0}" destId="{0C37419B-552B-4D06-8A47-9EF90A7DA0CA}" srcOrd="4" destOrd="0" presId="urn:microsoft.com/office/officeart/2005/8/layout/StepDownProcess"/>
    <dgm:cxn modelId="{1E789CE3-428F-4627-B9A4-68ACA0C644BF}" type="presParOf" srcId="{0C37419B-552B-4D06-8A47-9EF90A7DA0CA}" destId="{31EDCE19-DB82-44C5-B705-E4E1F9894793}" srcOrd="0" destOrd="0" presId="urn:microsoft.com/office/officeart/2005/8/layout/StepDownProcess"/>
    <dgm:cxn modelId="{F6B802BA-7AC5-4DE3-BB89-178A68C1BDDD}" type="presParOf" srcId="{0C37419B-552B-4D06-8A47-9EF90A7DA0CA}" destId="{406468D9-5DE7-4F0A-BD1D-1FC1DBE04E7E}" srcOrd="1" destOrd="0" presId="urn:microsoft.com/office/officeart/2005/8/layout/StepDownProcess"/>
    <dgm:cxn modelId="{D3E3C0B0-091B-4289-83D2-C8565359D19F}" type="presParOf" srcId="{0C37419B-552B-4D06-8A47-9EF90A7DA0CA}" destId="{D8E56A9C-0E0C-4530-B743-0D67F50FF8F4}" srcOrd="2" destOrd="0" presId="urn:microsoft.com/office/officeart/2005/8/layout/StepDownProcess"/>
    <dgm:cxn modelId="{C4B4638C-A166-4D8D-881F-A9F85453BA1A}" type="presParOf" srcId="{B375432B-CC4C-4871-8B48-13367395FAE0}" destId="{AC5B5184-4F78-4841-AA28-80EBB234AD41}" srcOrd="5" destOrd="0" presId="urn:microsoft.com/office/officeart/2005/8/layout/StepDownProcess"/>
    <dgm:cxn modelId="{5943C7B4-D4EA-4CCD-A912-93120F078E0B}" type="presParOf" srcId="{B375432B-CC4C-4871-8B48-13367395FAE0}" destId="{C38FC99B-4B28-4BFF-A7D3-1C4E1983A4F6}" srcOrd="6" destOrd="0" presId="urn:microsoft.com/office/officeart/2005/8/layout/StepDownProcess"/>
    <dgm:cxn modelId="{47D0B088-9A15-4865-A00F-08D75A75C722}" type="presParOf" srcId="{C38FC99B-4B28-4BFF-A7D3-1C4E1983A4F6}" destId="{12CC1C5C-6102-4E2F-A708-4279052B1263}" srcOrd="0" destOrd="0" presId="urn:microsoft.com/office/officeart/2005/8/layout/StepDownProcess"/>
    <dgm:cxn modelId="{3EAAED37-8259-4150-98FF-C6F78829E8D6}" type="presParOf" srcId="{C38FC99B-4B28-4BFF-A7D3-1C4E1983A4F6}" destId="{11383A83-32EC-4F09-83EB-87544DAD948D}" srcOrd="1" destOrd="0" presId="urn:microsoft.com/office/officeart/2005/8/layout/StepDownProcess"/>
    <dgm:cxn modelId="{8D7B53E6-4AD9-4379-864B-CF65A3193C32}" type="presParOf" srcId="{C38FC99B-4B28-4BFF-A7D3-1C4E1983A4F6}" destId="{9A58F0F7-A339-4B54-82B8-9649A42E6043}" srcOrd="2" destOrd="0" presId="urn:microsoft.com/office/officeart/2005/8/layout/StepDownProcess"/>
    <dgm:cxn modelId="{1ABD3BEC-0427-42D2-AB76-6A5D7BC58308}" type="presParOf" srcId="{B375432B-CC4C-4871-8B48-13367395FAE0}" destId="{7F9DAAD9-1655-4215-8624-ABDFC044B5B9}" srcOrd="7" destOrd="0" presId="urn:microsoft.com/office/officeart/2005/8/layout/StepDownProcess"/>
    <dgm:cxn modelId="{87F8CE1B-451B-4AFA-B683-05E6503CF3A8}" type="presParOf" srcId="{B375432B-CC4C-4871-8B48-13367395FAE0}" destId="{2CC634D8-57E5-4C78-B5FB-66E57C9EEC8A}" srcOrd="8" destOrd="0" presId="urn:microsoft.com/office/officeart/2005/8/layout/StepDownProcess"/>
    <dgm:cxn modelId="{FC28DF6A-05EC-4BAA-8B21-316CC24161F4}" type="presParOf" srcId="{2CC634D8-57E5-4C78-B5FB-66E57C9EEC8A}" destId="{B9C51D52-F430-452D-A769-992D297B1595}" srcOrd="0" destOrd="0" presId="urn:microsoft.com/office/officeart/2005/8/layout/StepDownProces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F4CCF-6A2A-4750-AE96-9364107C95FC}">
      <dsp:nvSpPr>
        <dsp:cNvPr id="0" name=""/>
        <dsp:cNvSpPr/>
      </dsp:nvSpPr>
      <dsp:spPr>
        <a:xfrm rot="5400000">
          <a:off x="2073079" y="826690"/>
          <a:ext cx="719456" cy="8190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0E5DA13B-90F6-46D4-925D-AF5959C6B37E}">
      <dsp:nvSpPr>
        <dsp:cNvPr id="0" name=""/>
        <dsp:cNvSpPr/>
      </dsp:nvSpPr>
      <dsp:spPr>
        <a:xfrm>
          <a:off x="1882467" y="29158"/>
          <a:ext cx="1211140" cy="847759"/>
        </a:xfrm>
        <a:prstGeom prst="roundRect">
          <a:avLst>
            <a:gd name="adj" fmla="val 16670"/>
          </a:avLst>
        </a:prstGeom>
        <a:solidFill>
          <a:schemeClr val="bg1">
            <a:lumMod val="85000"/>
          </a:schemeClr>
        </a:solidFill>
        <a:ln w="19050" cap="rnd" cmpd="sng" algn="ctr">
          <a:solidFill>
            <a:schemeClr val="bg1">
              <a:lumMod val="50000"/>
            </a:schemeClr>
          </a:solidFill>
          <a:prstDash val="solid"/>
        </a:ln>
        <a:effectLst/>
        <a:sp3d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Develop your app</a:t>
          </a:r>
        </a:p>
      </dsp:txBody>
      <dsp:txXfrm>
        <a:off x="1923859" y="70550"/>
        <a:ext cx="1128356" cy="764975"/>
      </dsp:txXfrm>
    </dsp:sp>
    <dsp:sp modelId="{E32F402A-110D-47CA-ABEB-E458AF1FE96E}">
      <dsp:nvSpPr>
        <dsp:cNvPr id="0" name=""/>
        <dsp:cNvSpPr/>
      </dsp:nvSpPr>
      <dsp:spPr>
        <a:xfrm>
          <a:off x="3093608" y="110011"/>
          <a:ext cx="880868" cy="68519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D9A5F3-444D-4C38-AB59-47EA002E70B7}">
      <dsp:nvSpPr>
        <dsp:cNvPr id="0" name=""/>
        <dsp:cNvSpPr/>
      </dsp:nvSpPr>
      <dsp:spPr>
        <a:xfrm rot="5400000">
          <a:off x="3077243" y="1779003"/>
          <a:ext cx="719456" cy="8190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30D82FF9-C567-4E7F-AA05-2D54B28BC467}">
      <dsp:nvSpPr>
        <dsp:cNvPr id="0" name=""/>
        <dsp:cNvSpPr/>
      </dsp:nvSpPr>
      <dsp:spPr>
        <a:xfrm>
          <a:off x="2886631" y="981472"/>
          <a:ext cx="1211140" cy="847759"/>
        </a:xfrm>
        <a:prstGeom prst="roundRect">
          <a:avLst>
            <a:gd name="adj" fmla="val 16670"/>
          </a:avLst>
        </a:prstGeom>
        <a:solidFill>
          <a:schemeClr val="bg1">
            <a:lumMod val="85000"/>
          </a:schemeClr>
        </a:solidFill>
        <a:ln w="19050" cap="rnd" cmpd="sng" algn="ctr">
          <a:solidFill>
            <a:schemeClr val="bg1">
              <a:lumMod val="50000"/>
            </a:schemeClr>
          </a:solidFill>
          <a:prstDash val="solid"/>
        </a:ln>
        <a:effectLst/>
        <a:sp3d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Create a Docker Image for your App and Push it to Docker Repo</a:t>
          </a:r>
        </a:p>
      </dsp:txBody>
      <dsp:txXfrm>
        <a:off x="2928023" y="1022864"/>
        <a:ext cx="1128356" cy="764975"/>
      </dsp:txXfrm>
    </dsp:sp>
    <dsp:sp modelId="{2144E671-7D0E-4A95-8E95-826A06F6A811}">
      <dsp:nvSpPr>
        <dsp:cNvPr id="0" name=""/>
        <dsp:cNvSpPr/>
      </dsp:nvSpPr>
      <dsp:spPr>
        <a:xfrm>
          <a:off x="4097772" y="1062325"/>
          <a:ext cx="880868" cy="68519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DCE19-DB82-44C5-B705-E4E1F9894793}">
      <dsp:nvSpPr>
        <dsp:cNvPr id="0" name=""/>
        <dsp:cNvSpPr/>
      </dsp:nvSpPr>
      <dsp:spPr>
        <a:xfrm rot="5400000">
          <a:off x="4081408" y="2731317"/>
          <a:ext cx="719456" cy="8190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406468D9-5DE7-4F0A-BD1D-1FC1DBE04E7E}">
      <dsp:nvSpPr>
        <dsp:cNvPr id="0" name=""/>
        <dsp:cNvSpPr/>
      </dsp:nvSpPr>
      <dsp:spPr>
        <a:xfrm>
          <a:off x="3890796" y="1933785"/>
          <a:ext cx="1211140" cy="847759"/>
        </a:xfrm>
        <a:prstGeom prst="roundRect">
          <a:avLst>
            <a:gd name="adj" fmla="val 16670"/>
          </a:avLst>
        </a:prstGeom>
        <a:solidFill>
          <a:schemeClr val="accent4"/>
        </a:solidFill>
        <a:ln w="19050" cap="rnd" cmpd="sng" algn="ctr">
          <a:solidFill>
            <a:schemeClr val="accent4">
              <a:shade val="50000"/>
            </a:schemeClr>
          </a:solidFill>
          <a:prstDash val="solid"/>
        </a:ln>
        <a:effectLst/>
        <a:sp3d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Create Kubernetes Deployment object manifests</a:t>
          </a:r>
        </a:p>
      </dsp:txBody>
      <dsp:txXfrm>
        <a:off x="3932188" y="1975177"/>
        <a:ext cx="1128356" cy="764975"/>
      </dsp:txXfrm>
    </dsp:sp>
    <dsp:sp modelId="{D8E56A9C-0E0C-4530-B743-0D67F50FF8F4}">
      <dsp:nvSpPr>
        <dsp:cNvPr id="0" name=""/>
        <dsp:cNvSpPr/>
      </dsp:nvSpPr>
      <dsp:spPr>
        <a:xfrm>
          <a:off x="5101936" y="2014638"/>
          <a:ext cx="880868" cy="68519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Deployment YML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Service YML</a:t>
          </a:r>
        </a:p>
      </dsp:txBody>
      <dsp:txXfrm>
        <a:off x="5101936" y="2014638"/>
        <a:ext cx="880868" cy="685196"/>
      </dsp:txXfrm>
    </dsp:sp>
    <dsp:sp modelId="{12CC1C5C-6102-4E2F-A708-4279052B1263}">
      <dsp:nvSpPr>
        <dsp:cNvPr id="0" name=""/>
        <dsp:cNvSpPr/>
      </dsp:nvSpPr>
      <dsp:spPr>
        <a:xfrm rot="5400000">
          <a:off x="5085572" y="3683630"/>
          <a:ext cx="719456" cy="8190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p3d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11383A83-32EC-4F09-83EB-87544DAD948D}">
      <dsp:nvSpPr>
        <dsp:cNvPr id="0" name=""/>
        <dsp:cNvSpPr/>
      </dsp:nvSpPr>
      <dsp:spPr>
        <a:xfrm>
          <a:off x="4894960" y="2886098"/>
          <a:ext cx="1211140" cy="847759"/>
        </a:xfrm>
        <a:prstGeom prst="roundRect">
          <a:avLst>
            <a:gd name="adj" fmla="val 16670"/>
          </a:avLst>
        </a:prstGeom>
        <a:solidFill>
          <a:schemeClr val="accent5"/>
        </a:solidFill>
        <a:ln w="19050" cap="rnd" cmpd="sng" algn="ctr">
          <a:solidFill>
            <a:schemeClr val="accent5">
              <a:shade val="50000"/>
            </a:schemeClr>
          </a:solidFill>
          <a:prstDash val="solid"/>
        </a:ln>
        <a:effectLst/>
        <a:sp3d/>
      </dsp:spPr>
      <dsp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Login to Kubernetes </a:t>
          </a:r>
        </a:p>
      </dsp:txBody>
      <dsp:txXfrm>
        <a:off x="4936352" y="2927490"/>
        <a:ext cx="1128356" cy="764975"/>
      </dsp:txXfrm>
    </dsp:sp>
    <dsp:sp modelId="{9A58F0F7-A339-4B54-82B8-9649A42E6043}">
      <dsp:nvSpPr>
        <dsp:cNvPr id="0" name=""/>
        <dsp:cNvSpPr/>
      </dsp:nvSpPr>
      <dsp:spPr>
        <a:xfrm>
          <a:off x="6106101" y="2966951"/>
          <a:ext cx="880868" cy="68519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51D52-F430-452D-A769-992D297B1595}">
      <dsp:nvSpPr>
        <dsp:cNvPr id="0" name=""/>
        <dsp:cNvSpPr/>
      </dsp:nvSpPr>
      <dsp:spPr>
        <a:xfrm>
          <a:off x="5899124" y="3838412"/>
          <a:ext cx="1211140" cy="847759"/>
        </a:xfrm>
        <a:prstGeom prst="roundRect">
          <a:avLst>
            <a:gd name="adj" fmla="val 16670"/>
          </a:avLst>
        </a:prstGeom>
        <a:solidFill>
          <a:schemeClr val="accent6"/>
        </a:solidFill>
        <a:ln w="19050" cap="rnd" cmpd="sng" algn="ctr">
          <a:solidFill>
            <a:schemeClr val="accent6">
              <a:shade val="50000"/>
            </a:schemeClr>
          </a:solidFill>
          <a:prstDash val="solid"/>
        </a:ln>
        <a:effectLst/>
        <a:sp3d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Deploy to Kubernetes</a:t>
          </a:r>
        </a:p>
      </dsp:txBody>
      <dsp:txXfrm>
        <a:off x="5940516" y="3879804"/>
        <a:ext cx="1128356" cy="764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0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6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7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51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0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5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9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9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4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76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38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5101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35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43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2CEF9-9AB1-4FAF-9096-916538778638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CD7068-5D19-4CA1-B9DD-A1770A696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5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resources/what-container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docker.com/docker-for-windows/instal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Yesil-ext@dev.azure.com/OYesil-ext/workshops/_git/ws01-dockerize-dotnetcore" TargetMode="External"/><Relationship Id="rId2" Type="http://schemas.openxmlformats.org/officeDocument/2006/relationships/hyperlink" Target="https://dotnet.microsoft.com/downloa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api/valu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api/valu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tasks/tools/install-kubectl/#install-with-powershell-from-psgallery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tasks/tools/install-kubectl/#install-with-powershell-from-psgallery" TargetMode="External"/><Relationship Id="rId2" Type="http://schemas.openxmlformats.org/officeDocument/2006/relationships/hyperlink" Target="https://docs.microsoft.com/en-us/cli/azure/install-azure-cli-windows?view=azure-cli-lates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47F0-E166-46A2-9569-067A1458A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Step by Step </a:t>
            </a:r>
            <a:r>
              <a:rPr lang="en-US" dirty="0" err="1"/>
              <a:t>Dotnetcore</a:t>
            </a:r>
            <a:r>
              <a:rPr lang="en-US" dirty="0"/>
              <a:t> API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D24C0-AC1E-4B19-A648-0BC0C623A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96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47EB-994D-44C0-A256-D5DDE0BA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A7257-377D-497E-8F9B-526E54D20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6862"/>
            <a:ext cx="8596668" cy="4775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Target Architecture</a:t>
            </a:r>
          </a:p>
          <a:p>
            <a:r>
              <a:rPr lang="en-US" dirty="0"/>
              <a:t>Docker / Containers</a:t>
            </a:r>
          </a:p>
          <a:p>
            <a:pPr lvl="1"/>
            <a:r>
              <a:rPr lang="en-US" dirty="0"/>
              <a:t>What is containers</a:t>
            </a:r>
          </a:p>
          <a:p>
            <a:pPr lvl="1"/>
            <a:r>
              <a:rPr lang="en-US" dirty="0"/>
              <a:t>Install Docker on Local</a:t>
            </a:r>
          </a:p>
          <a:p>
            <a:pPr lvl="1"/>
            <a:r>
              <a:rPr lang="en-US" dirty="0"/>
              <a:t>Hello World</a:t>
            </a:r>
          </a:p>
          <a:p>
            <a:r>
              <a:rPr lang="en-US" dirty="0"/>
              <a:t>Create Values API and Run Locally</a:t>
            </a:r>
          </a:p>
          <a:p>
            <a:pPr lvl="1"/>
            <a:r>
              <a:rPr lang="en-US" dirty="0"/>
              <a:t>.NET Core / Visual Studio </a:t>
            </a:r>
          </a:p>
          <a:p>
            <a:r>
              <a:rPr lang="en-US" dirty="0"/>
              <a:t>REST API with </a:t>
            </a:r>
            <a:r>
              <a:rPr lang="en-US" dirty="0" err="1"/>
              <a:t>DotnetCore</a:t>
            </a:r>
            <a:endParaRPr lang="en-US" dirty="0"/>
          </a:p>
          <a:p>
            <a:pPr lvl="1"/>
            <a:r>
              <a:rPr lang="en-US" dirty="0" err="1"/>
              <a:t>Dotnetcore</a:t>
            </a:r>
            <a:r>
              <a:rPr lang="en-US" dirty="0"/>
              <a:t> vs .NET Framework</a:t>
            </a:r>
          </a:p>
          <a:p>
            <a:pPr lvl="1"/>
            <a:r>
              <a:rPr lang="en-US" dirty="0"/>
              <a:t>Setting Up PC</a:t>
            </a:r>
          </a:p>
          <a:p>
            <a:pPr lvl="1"/>
            <a:r>
              <a:rPr lang="en-US" dirty="0"/>
              <a:t>Creating API</a:t>
            </a:r>
          </a:p>
          <a:p>
            <a:pPr lvl="1"/>
            <a:r>
              <a:rPr lang="en-US" dirty="0"/>
              <a:t>Running in a container</a:t>
            </a:r>
          </a:p>
          <a:p>
            <a:pPr lvl="1"/>
            <a:r>
              <a:rPr lang="en-US" dirty="0"/>
              <a:t>Deploying to Kubernetes</a:t>
            </a:r>
          </a:p>
          <a:p>
            <a:pPr lvl="1"/>
            <a:r>
              <a:rPr lang="en-US" dirty="0"/>
              <a:t>Adding Swagger capability</a:t>
            </a:r>
          </a:p>
          <a:p>
            <a:pPr lvl="1"/>
            <a:r>
              <a:rPr lang="en-US" dirty="0"/>
              <a:t>Adding End-points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72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53AF-E4DB-4C1F-974A-260D06F9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Target Architecture – What are we building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4CAF50-1D1C-4E24-A22F-7F7389C17435}"/>
              </a:ext>
            </a:extLst>
          </p:cNvPr>
          <p:cNvSpPr txBox="1"/>
          <p:nvPr/>
        </p:nvSpPr>
        <p:spPr>
          <a:xfrm>
            <a:off x="5173094" y="4232379"/>
            <a:ext cx="44936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Tools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Visual Studio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Dotnet Core SDK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Docker CLI : To build/push docker image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Azure CLI : To connect to Azure</a:t>
            </a:r>
          </a:p>
          <a:p>
            <a:pPr marL="285750" indent="-285750">
              <a:buFontTx/>
              <a:buChar char="-"/>
            </a:pPr>
            <a:r>
              <a:rPr lang="en-US" sz="1600" dirty="0" err="1"/>
              <a:t>Kubectl</a:t>
            </a:r>
            <a:r>
              <a:rPr lang="en-US" sz="1600" dirty="0"/>
              <a:t> : To deploy Calculator API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818F00-090E-4094-BF0B-3B6B56FD472F}"/>
              </a:ext>
            </a:extLst>
          </p:cNvPr>
          <p:cNvGrpSpPr/>
          <p:nvPr/>
        </p:nvGrpSpPr>
        <p:grpSpPr>
          <a:xfrm>
            <a:off x="788069" y="2228500"/>
            <a:ext cx="6519316" cy="3618522"/>
            <a:chOff x="5196404" y="2243219"/>
            <a:chExt cx="6119134" cy="361852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BEDC875-7B6A-4D88-9B1B-ADBAE4460717}"/>
                </a:ext>
              </a:extLst>
            </p:cNvPr>
            <p:cNvSpPr/>
            <p:nvPr/>
          </p:nvSpPr>
          <p:spPr>
            <a:xfrm>
              <a:off x="5196404" y="2243219"/>
              <a:ext cx="3360615" cy="361852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F16247-17DD-445E-ADEB-82DF2A4C1A5A}"/>
                </a:ext>
              </a:extLst>
            </p:cNvPr>
            <p:cNvSpPr/>
            <p:nvPr/>
          </p:nvSpPr>
          <p:spPr>
            <a:xfrm>
              <a:off x="5298005" y="2411255"/>
              <a:ext cx="3104336" cy="2762349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EA97E75-575D-48A1-BAD1-A5E43292A107}"/>
                </a:ext>
              </a:extLst>
            </p:cNvPr>
            <p:cNvSpPr/>
            <p:nvPr/>
          </p:nvSpPr>
          <p:spPr>
            <a:xfrm>
              <a:off x="5532467" y="2594911"/>
              <a:ext cx="1899138" cy="19304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Values API</a:t>
              </a:r>
            </a:p>
          </p:txBody>
        </p:sp>
        <p:pic>
          <p:nvPicPr>
            <p:cNvPr id="3080" name="Picture 8" descr="Image result for dotnetcore icon">
              <a:extLst>
                <a:ext uri="{FF2B5EF4-FFF2-40B4-BE49-F238E27FC236}">
                  <a16:creationId xmlns:a16="http://schemas.microsoft.com/office/drawing/2014/main" id="{3224542D-B525-42D3-9BAE-6BAB96FB6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5520" y="3915830"/>
              <a:ext cx="564549" cy="440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4" name="Picture 12" descr="Image result for restful icon">
              <a:extLst>
                <a:ext uri="{FF2B5EF4-FFF2-40B4-BE49-F238E27FC236}">
                  <a16:creationId xmlns:a16="http://schemas.microsoft.com/office/drawing/2014/main" id="{E7D9CFBE-97DB-4047-A435-45848088BF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2036" y="3839698"/>
              <a:ext cx="564549" cy="563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9894EBB-2810-4820-B5C6-74855924556C}"/>
                </a:ext>
              </a:extLst>
            </p:cNvPr>
            <p:cNvGrpSpPr/>
            <p:nvPr/>
          </p:nvGrpSpPr>
          <p:grpSpPr>
            <a:xfrm>
              <a:off x="7375737" y="2797784"/>
              <a:ext cx="1407145" cy="375927"/>
              <a:chOff x="5024132" y="2883551"/>
              <a:chExt cx="1407145" cy="375927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1930874-0DF9-433D-A2BC-04BE20ED5A0F}"/>
                  </a:ext>
                </a:extLst>
              </p:cNvPr>
              <p:cNvCxnSpPr/>
              <p:nvPr/>
            </p:nvCxnSpPr>
            <p:spPr>
              <a:xfrm>
                <a:off x="5080000" y="3177417"/>
                <a:ext cx="119575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E7641E5-723F-4DE1-A0C5-7D2407AB28C7}"/>
                  </a:ext>
                </a:extLst>
              </p:cNvPr>
              <p:cNvSpPr/>
              <p:nvPr/>
            </p:nvSpPr>
            <p:spPr>
              <a:xfrm>
                <a:off x="6276532" y="3095355"/>
                <a:ext cx="154745" cy="16412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EA3A297-D532-4ED3-A284-FFC1AE733184}"/>
                  </a:ext>
                </a:extLst>
              </p:cNvPr>
              <p:cNvSpPr txBox="1"/>
              <p:nvPr/>
            </p:nvSpPr>
            <p:spPr>
              <a:xfrm>
                <a:off x="5024132" y="2883551"/>
                <a:ext cx="83067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List Values</a:t>
                </a:r>
              </a:p>
            </p:txBody>
          </p:sp>
        </p:grpSp>
        <p:pic>
          <p:nvPicPr>
            <p:cNvPr id="3090" name="Picture 18" descr="Image result for docker container icon">
              <a:extLst>
                <a:ext uri="{FF2B5EF4-FFF2-40B4-BE49-F238E27FC236}">
                  <a16:creationId xmlns:a16="http://schemas.microsoft.com/office/drawing/2014/main" id="{773AD484-61B3-4414-A964-E42A8CD14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6242" y="4584008"/>
              <a:ext cx="543965" cy="464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B252759-EFA9-4C01-A0D0-64A4F1E36B00}"/>
                </a:ext>
              </a:extLst>
            </p:cNvPr>
            <p:cNvGrpSpPr/>
            <p:nvPr/>
          </p:nvGrpSpPr>
          <p:grpSpPr>
            <a:xfrm>
              <a:off x="7823158" y="5323715"/>
              <a:ext cx="571368" cy="472836"/>
              <a:chOff x="8863429" y="4110875"/>
              <a:chExt cx="571368" cy="472836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103A8192-E777-4E9D-B719-BC71CB231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63429" y="4110875"/>
                <a:ext cx="571368" cy="472836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5D1B7CC-1915-402D-90DA-A91118154E67}"/>
                  </a:ext>
                </a:extLst>
              </p:cNvPr>
              <p:cNvSpPr/>
              <p:nvPr/>
            </p:nvSpPr>
            <p:spPr>
              <a:xfrm>
                <a:off x="8922676" y="4203896"/>
                <a:ext cx="448179" cy="26161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05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AKS</a:t>
                </a:r>
                <a:endParaRPr lang="en-US" sz="105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7D1D2E4-F94E-466B-BD42-AEDCE44D2A4D}"/>
                </a:ext>
              </a:extLst>
            </p:cNvPr>
            <p:cNvSpPr txBox="1"/>
            <p:nvPr/>
          </p:nvSpPr>
          <p:spPr>
            <a:xfrm>
              <a:off x="8557019" y="2714679"/>
              <a:ext cx="2589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GET http://[service-ip]/api/values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35DB068-E510-452B-94DB-74877AC37B9D}"/>
                </a:ext>
              </a:extLst>
            </p:cNvPr>
            <p:cNvGrpSpPr/>
            <p:nvPr/>
          </p:nvGrpSpPr>
          <p:grpSpPr>
            <a:xfrm>
              <a:off x="7396661" y="3528786"/>
              <a:ext cx="1407145" cy="375927"/>
              <a:chOff x="5024132" y="2883551"/>
              <a:chExt cx="1407145" cy="375927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E09C9DA-B111-49E9-A42A-3DA07CFA31A8}"/>
                  </a:ext>
                </a:extLst>
              </p:cNvPr>
              <p:cNvCxnSpPr/>
              <p:nvPr/>
            </p:nvCxnSpPr>
            <p:spPr>
              <a:xfrm>
                <a:off x="5080000" y="3177417"/>
                <a:ext cx="119575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1CED5C85-A460-48F8-AC75-5D1C6EE59C16}"/>
                  </a:ext>
                </a:extLst>
              </p:cNvPr>
              <p:cNvSpPr/>
              <p:nvPr/>
            </p:nvSpPr>
            <p:spPr>
              <a:xfrm>
                <a:off x="6276532" y="3095355"/>
                <a:ext cx="154745" cy="16412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A01D3C4-AE96-4627-8F1B-2CEFF1A91C27}"/>
                  </a:ext>
                </a:extLst>
              </p:cNvPr>
              <p:cNvSpPr txBox="1"/>
              <p:nvPr/>
            </p:nvSpPr>
            <p:spPr>
              <a:xfrm>
                <a:off x="5024132" y="2883551"/>
                <a:ext cx="127150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Get specific value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E21E80A-266C-4515-9CA3-DCF401AC511D}"/>
                </a:ext>
              </a:extLst>
            </p:cNvPr>
            <p:cNvSpPr txBox="1"/>
            <p:nvPr/>
          </p:nvSpPr>
          <p:spPr>
            <a:xfrm>
              <a:off x="8565618" y="3436839"/>
              <a:ext cx="2749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GET http://[service-ip]/api/values/1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3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1F35-3F05-499F-A532-CFFD1BB9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- Containers</a:t>
            </a:r>
          </a:p>
        </p:txBody>
      </p:sp>
      <p:pic>
        <p:nvPicPr>
          <p:cNvPr id="1036" name="Picture 12" descr="https://www.docker.com/sites/default/files/d8/styles/large/public/2018-11/container-what-is-container.png?itok=vle7kjDj">
            <a:extLst>
              <a:ext uri="{FF2B5EF4-FFF2-40B4-BE49-F238E27FC236}">
                <a16:creationId xmlns:a16="http://schemas.microsoft.com/office/drawing/2014/main" id="{1A6C22B5-666C-489D-A4E4-E4C9530822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4" t="10238" r="6657" b="9156"/>
          <a:stretch/>
        </p:blipFill>
        <p:spPr bwMode="auto">
          <a:xfrm>
            <a:off x="6510215" y="1680308"/>
            <a:ext cx="4736123" cy="380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B4587E1-20BC-47E1-9F2F-A9B81184E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657" y="1930400"/>
            <a:ext cx="5559343" cy="422812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container is a standard </a:t>
            </a:r>
            <a:r>
              <a:rPr lang="en-US" b="1" dirty="0"/>
              <a:t>unit of software </a:t>
            </a:r>
            <a:r>
              <a:rPr lang="en-US" dirty="0"/>
              <a:t>that </a:t>
            </a:r>
            <a:r>
              <a:rPr lang="en-US" b="1" dirty="0"/>
              <a:t>packages</a:t>
            </a:r>
            <a:r>
              <a:rPr lang="en-US" dirty="0"/>
              <a:t> up </a:t>
            </a:r>
            <a:r>
              <a:rPr lang="en-US" b="1" dirty="0"/>
              <a:t>code and all its dependencies </a:t>
            </a:r>
            <a:r>
              <a:rPr lang="en-US" dirty="0"/>
              <a:t>so the application runs quickly and reliably from one computing environment to another. A Docker container image is a </a:t>
            </a:r>
            <a:r>
              <a:rPr lang="en-US" b="1" dirty="0"/>
              <a:t>lightweight</a:t>
            </a:r>
            <a:r>
              <a:rPr lang="en-US" dirty="0"/>
              <a:t>, </a:t>
            </a:r>
            <a:r>
              <a:rPr lang="en-US" b="1" dirty="0"/>
              <a:t>standalone</a:t>
            </a:r>
            <a:r>
              <a:rPr lang="en-US" dirty="0"/>
              <a:t>, </a:t>
            </a:r>
            <a:r>
              <a:rPr lang="en-US" b="1" dirty="0"/>
              <a:t>executable</a:t>
            </a:r>
            <a:r>
              <a:rPr lang="en-US" dirty="0"/>
              <a:t> package of software that includes everything needed to run an application: code, runtime, system tools, system libraries and settings.</a:t>
            </a:r>
          </a:p>
          <a:p>
            <a:r>
              <a:rPr lang="en-US" dirty="0"/>
              <a:t>Standard – portable anywhere</a:t>
            </a:r>
          </a:p>
          <a:p>
            <a:r>
              <a:rPr lang="en-US" dirty="0"/>
              <a:t>Lightweight – Only required things for your app</a:t>
            </a:r>
          </a:p>
          <a:p>
            <a:r>
              <a:rPr lang="en-US" dirty="0"/>
              <a:t>Secure – Isolated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More info: </a:t>
            </a:r>
            <a:r>
              <a:rPr lang="en-US" dirty="0">
                <a:hlinkClick r:id="rId3"/>
              </a:rPr>
              <a:t>https://www.docker.com/resources/what-container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962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720F-0286-4879-ADAE-D4384B8A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- Installing Docker for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1A8B1-41AD-485E-A3F1-01511C6BF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8171"/>
            <a:ext cx="8596668" cy="43431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Download Docker Desktop for Windows</a:t>
            </a:r>
          </a:p>
          <a:p>
            <a:pPr lvl="1"/>
            <a:r>
              <a:rPr lang="en-US" dirty="0"/>
              <a:t>Hyper-V must be installed on your PC (from Add Remove Programs)</a:t>
            </a:r>
          </a:p>
          <a:p>
            <a:pPr lvl="1"/>
            <a:r>
              <a:rPr lang="en-US" dirty="0"/>
              <a:t>Register to </a:t>
            </a:r>
            <a:r>
              <a:rPr lang="en-US" dirty="0" err="1"/>
              <a:t>Dockerhub</a:t>
            </a:r>
            <a:endParaRPr lang="en-US" dirty="0"/>
          </a:p>
          <a:p>
            <a:pPr lvl="1"/>
            <a:r>
              <a:rPr lang="en-US" dirty="0"/>
              <a:t>Download and install</a:t>
            </a:r>
          </a:p>
          <a:p>
            <a:pPr lvl="2"/>
            <a:r>
              <a:rPr lang="en-US" dirty="0">
                <a:hlinkClick r:id="rId2"/>
              </a:rPr>
              <a:t>https://docs.docker.com/docker-for-windows/install/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Login to Docker</a:t>
            </a:r>
          </a:p>
          <a:p>
            <a:pPr lvl="1"/>
            <a:r>
              <a:rPr lang="en-US" dirty="0"/>
              <a:t>From Docker for Windows</a:t>
            </a:r>
          </a:p>
          <a:p>
            <a:pPr lvl="1"/>
            <a:r>
              <a:rPr lang="en-US" dirty="0"/>
              <a:t>Or run the following command in command line/</a:t>
            </a:r>
            <a:r>
              <a:rPr lang="en-US" dirty="0" err="1"/>
              <a:t>powershell</a:t>
            </a:r>
            <a:endParaRPr lang="en-US" dirty="0"/>
          </a:p>
          <a:p>
            <a:pPr lvl="2"/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docker login -u [your-username] -p [</a:t>
            </a:r>
            <a:r>
              <a:rPr lang="en-US" dirty="0" err="1">
                <a:solidFill>
                  <a:srgbClr val="0070C0"/>
                </a:solidFill>
              </a:rPr>
              <a:t>yourpassword</a:t>
            </a:r>
            <a:r>
              <a:rPr lang="en-US" dirty="0">
                <a:solidFill>
                  <a:srgbClr val="0070C0"/>
                </a:solidFill>
              </a:rPr>
              <a:t>]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3D2B0-6C8E-4AC6-BB43-CACB62180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275" y="3150175"/>
            <a:ext cx="3159463" cy="12180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E2515D-4B55-4CA0-9589-C8AFCAE21CD2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428579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623D-F759-4065-BDE1-CC86FF38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– Docker Hub /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478E-40FF-4F94-84A0-005EC1994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 Docker-hub</a:t>
            </a:r>
          </a:p>
          <a:p>
            <a:pPr lvl="1"/>
            <a:r>
              <a:rPr lang="en-US" dirty="0"/>
              <a:t>Search hello-world docker image</a:t>
            </a:r>
          </a:p>
          <a:p>
            <a:r>
              <a:rPr lang="en-US" dirty="0"/>
              <a:t>Run hello-world from command-line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run hello-world</a:t>
            </a:r>
          </a:p>
          <a:p>
            <a:r>
              <a:rPr lang="en-US" dirty="0"/>
              <a:t>Some docker-cli commands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</a:t>
            </a:r>
            <a:r>
              <a:rPr lang="en-US" dirty="0" err="1">
                <a:solidFill>
                  <a:srgbClr val="0070C0"/>
                </a:solidFill>
              </a:rPr>
              <a:t>ps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shows running docker containers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images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shows images exist in local repo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search hello-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lists available images in the remote repo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build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builds a new docker image from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dockerfile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push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pushes locally built image to remote repo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17FA06-ADF4-4203-9FF4-4759ABEF49BC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111528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7F55-EB10-4863-BDCE-D2B9D011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– Dockerfile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AB24-871D-428F-9469-432EAB85D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r>
              <a:rPr lang="en-US" dirty="0"/>
              <a:t>Docker can </a:t>
            </a:r>
            <a:r>
              <a:rPr lang="en-US" b="1" dirty="0"/>
              <a:t>build images automatically </a:t>
            </a:r>
            <a:r>
              <a:rPr lang="en-US" dirty="0"/>
              <a:t>by reading the instructions from a </a:t>
            </a:r>
            <a:r>
              <a:rPr lang="en-US" b="1" dirty="0"/>
              <a:t>Dockerfile</a:t>
            </a:r>
            <a:r>
              <a:rPr lang="en-US" dirty="0"/>
              <a:t>. </a:t>
            </a:r>
          </a:p>
          <a:p>
            <a:r>
              <a:rPr lang="en-US" dirty="0"/>
              <a:t>A Dockerfile is a </a:t>
            </a:r>
            <a:r>
              <a:rPr lang="en-US" b="1" dirty="0"/>
              <a:t>text document </a:t>
            </a:r>
            <a:r>
              <a:rPr lang="en-US" dirty="0"/>
              <a:t>that contains all the commands a user could call on the command line to assemble an image. </a:t>
            </a:r>
          </a:p>
          <a:p>
            <a:r>
              <a:rPr lang="en-US" dirty="0"/>
              <a:t>Using docker build users can create an automated build that executes several command-line instructions in succession.</a:t>
            </a:r>
          </a:p>
          <a:p>
            <a:r>
              <a:rPr lang="en-US" dirty="0"/>
              <a:t>Sample: </a:t>
            </a:r>
            <a:r>
              <a:rPr lang="en-US" dirty="0" err="1"/>
              <a:t>dockerfile</a:t>
            </a:r>
            <a:endParaRPr lang="en-US" dirty="0"/>
          </a:p>
          <a:p>
            <a:pPr lvl="1"/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1859CE-B754-4B14-8EAE-7DFDD6F42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246" y="4676775"/>
            <a:ext cx="2755200" cy="160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623D-F759-4065-BDE1-CC86FF38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– Azure Container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478E-40FF-4F94-84A0-005EC199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162604" cy="3880773"/>
          </a:xfrm>
        </p:spPr>
        <p:txBody>
          <a:bodyPr/>
          <a:lstStyle/>
          <a:p>
            <a:r>
              <a:rPr lang="en-US" dirty="0"/>
              <a:t>ACR – Similar to </a:t>
            </a:r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Our private repo</a:t>
            </a:r>
          </a:p>
          <a:p>
            <a:pPr lvl="1"/>
            <a:r>
              <a:rPr lang="en-US" dirty="0"/>
              <a:t>Hosted in Azure – Fully managed</a:t>
            </a:r>
          </a:p>
          <a:p>
            <a:r>
              <a:rPr lang="en-US" dirty="0"/>
              <a:t>Login to Azure Container Registry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docker login osrammarkhamdev.azurecr.io –u [will-be-provided] –p [will-be-provided]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CD5530-7F47-4292-84CA-847E81DC6CAD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3311631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2781-B2E2-4EA5-A776-A5D8115D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Setup local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5A7B-1AF0-4281-88BF-C2602C85D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740943" cy="3888519"/>
          </a:xfrm>
        </p:spPr>
        <p:txBody>
          <a:bodyPr/>
          <a:lstStyle/>
          <a:p>
            <a:r>
              <a:rPr lang="en-US" dirty="0"/>
              <a:t>If not installed</a:t>
            </a:r>
          </a:p>
          <a:p>
            <a:pPr lvl="1"/>
            <a:r>
              <a:rPr lang="en-US" dirty="0"/>
              <a:t>Install Visual Studio</a:t>
            </a:r>
          </a:p>
          <a:p>
            <a:pPr lvl="1"/>
            <a:r>
              <a:rPr lang="en-US" dirty="0"/>
              <a:t>Install .NET Core 2.2 SDK</a:t>
            </a:r>
            <a:br>
              <a:rPr lang="en-US" dirty="0"/>
            </a:br>
            <a:r>
              <a:rPr lang="en-US" dirty="0">
                <a:hlinkClick r:id="rId2"/>
              </a:rPr>
              <a:t>https://dotnet.microsoft.com/download</a:t>
            </a:r>
            <a:r>
              <a:rPr lang="en-US" dirty="0"/>
              <a:t> </a:t>
            </a:r>
          </a:p>
          <a:p>
            <a:r>
              <a:rPr lang="en-US" dirty="0"/>
              <a:t>Clone git repo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linkClick r:id="rId3"/>
              </a:rPr>
              <a:t>https://OYesil-ext@dev.azure.com/OYesil-ext/workshops/_git/ws01-dockerize-dotnetcore</a:t>
            </a:r>
            <a:endParaRPr lang="en-US" dirty="0"/>
          </a:p>
          <a:p>
            <a:r>
              <a:rPr lang="en-US" dirty="0"/>
              <a:t>Create a branch under your name, and push that branch to remote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git checkout –b branch [</a:t>
            </a:r>
            <a:r>
              <a:rPr lang="en-US" dirty="0" err="1">
                <a:solidFill>
                  <a:srgbClr val="0070C0"/>
                </a:solidFill>
              </a:rPr>
              <a:t>firstname</a:t>
            </a:r>
            <a:r>
              <a:rPr lang="en-US" dirty="0">
                <a:solidFill>
                  <a:srgbClr val="0070C0"/>
                </a:solidFill>
              </a:rPr>
              <a:t>].[</a:t>
            </a:r>
            <a:r>
              <a:rPr lang="en-US" dirty="0" err="1">
                <a:solidFill>
                  <a:srgbClr val="0070C0"/>
                </a:solidFill>
              </a:rPr>
              <a:t>lastname</a:t>
            </a:r>
            <a:r>
              <a:rPr lang="en-US" dirty="0">
                <a:solidFill>
                  <a:srgbClr val="0070C0"/>
                </a:solidFill>
              </a:rPr>
              <a:t>]</a:t>
            </a:r>
            <a:r>
              <a:rPr lang="en-US" dirty="0"/>
              <a:t>    #example: git checkout -b branch </a:t>
            </a:r>
            <a:r>
              <a:rPr lang="en-US" dirty="0" err="1"/>
              <a:t>omer.Yesil</a:t>
            </a:r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git push –u origin [</a:t>
            </a:r>
            <a:r>
              <a:rPr lang="en-US" dirty="0" err="1">
                <a:solidFill>
                  <a:srgbClr val="0070C0"/>
                </a:solidFill>
              </a:rPr>
              <a:t>firstname</a:t>
            </a:r>
            <a:r>
              <a:rPr lang="en-US" dirty="0">
                <a:solidFill>
                  <a:srgbClr val="0070C0"/>
                </a:solidFill>
              </a:rPr>
              <a:t>].[</a:t>
            </a:r>
            <a:r>
              <a:rPr lang="en-US" dirty="0" err="1">
                <a:solidFill>
                  <a:srgbClr val="0070C0"/>
                </a:solidFill>
              </a:rPr>
              <a:t>lastname</a:t>
            </a:r>
            <a:r>
              <a:rPr lang="en-US" dirty="0">
                <a:solidFill>
                  <a:srgbClr val="0070C0"/>
                </a:solidFill>
              </a:rPr>
              <a:t>]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84DE2-0933-4CFF-86F0-48D537F2EA0E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335206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14C71-BDC4-4CE6-9153-F3BEF048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Create Values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AA96-B03F-41DC-9ADF-140DDE2CE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5535"/>
            <a:ext cx="8596668" cy="49615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From Visual Studio, select New Project from File menu, and create an “ASP.NET Core Web Application” from the templates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the application to test on local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A6411-1F68-450C-8946-C2B5B45E0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81" y="2213575"/>
            <a:ext cx="5432376" cy="3544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CD6C3-8731-491C-BD2E-E27DE8F67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81" y="2423351"/>
            <a:ext cx="4626708" cy="33348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05E1C3-9477-4171-AE02-431589F4A910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570910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A9A7-3A10-40EF-90C3-3DCFF77F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Publish the API Runtimes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5E31-FF60-4668-BEFA-38593884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Publish the Application. Run the dotnet cli command under 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Osram.Calculator.Api</a:t>
            </a:r>
            <a:r>
              <a:rPr lang="en-US" dirty="0"/>
              <a:t> folder (you can also publish from Visual Studio)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dotnet publish -c release -o publish </a:t>
            </a:r>
            <a:b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To test the published code run the following under the publish folder 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dotnet Osram.Values.Api.dll</a:t>
            </a:r>
          </a:p>
          <a:p>
            <a:pPr lvl="1"/>
            <a:r>
              <a:rPr lang="en-US" dirty="0"/>
              <a:t>Verify : </a:t>
            </a:r>
            <a:r>
              <a:rPr lang="en-US" dirty="0">
                <a:hlinkClick r:id="rId2"/>
              </a:rPr>
              <a:t>http://localhost:5000/api/values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Now you can kill the running dotnet process (CTRL+C)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CEABAA-55F3-43EC-B7E0-EB53F1B9708D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191942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A9A7-3A10-40EF-90C3-3DCFF77F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Dockerize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5E31-FF60-4668-BEFA-38593884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new text file named </a:t>
            </a:r>
            <a:r>
              <a:rPr lang="en-US" dirty="0" err="1"/>
              <a:t>dockerfile</a:t>
            </a:r>
            <a:r>
              <a:rPr lang="en-US" dirty="0"/>
              <a:t> under 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Osram.Calculator.Api</a:t>
            </a:r>
            <a:r>
              <a:rPr lang="en-US" dirty="0"/>
              <a:t> folder, and set its’ content as below: </a:t>
            </a:r>
          </a:p>
          <a:p>
            <a:pPr marL="400050" lvl="1" indent="0">
              <a:buNone/>
            </a:pP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1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microsoft</a:t>
            </a: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/dotnet:2.2-aspnetcore-runtime AS runtime</a:t>
            </a: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WORKDIR /app</a:t>
            </a: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publish/. /app/</a:t>
            </a: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 ASPNETCORE_URLS=http://+:5000 </a:t>
            </a: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ENTRYPOINT ["dotnet", "Osram.Values.Api.dll"]</a:t>
            </a:r>
            <a:endParaRPr lang="en-US" sz="14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Run the following command to build docker image</a:t>
            </a:r>
            <a:br>
              <a:rPr lang="en-US" dirty="0"/>
            </a:b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build -t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osram.values.api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	</a:t>
            </a:r>
            <a:endParaRPr 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Verify : 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images </a:t>
            </a:r>
            <a:b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CEABAA-55F3-43EC-B7E0-EB53F1B9708D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097443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53D0-DC99-41CF-A945-4835F592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Run Docker Container on Local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90BF-AD9A-4DFF-8266-745067E4A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following command to create a container from the image we created in the previous slide: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osram.values.api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–p 5000:5000</a:t>
            </a:r>
          </a:p>
          <a:p>
            <a:pPr lvl="1"/>
            <a:r>
              <a:rPr lang="en-US" dirty="0"/>
              <a:t>To verify, browse: </a:t>
            </a:r>
            <a:r>
              <a:rPr lang="en-US" dirty="0">
                <a:hlinkClick r:id="rId2"/>
              </a:rPr>
              <a:t>http://localhost:5000/api/values</a:t>
            </a:r>
            <a:r>
              <a:rPr lang="en-US" dirty="0"/>
              <a:t> </a:t>
            </a:r>
          </a:p>
          <a:p>
            <a:r>
              <a:rPr lang="en-US" dirty="0"/>
              <a:t>Kill the process (CTRL-C)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9B746-F15F-4CFE-96F5-4E13B303470A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3135272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53D0-DC99-41CF-A945-4835F592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Connecting to a running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90BF-AD9A-4DFF-8266-745067E4A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previous command with additional parameter (-d):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osram.values.api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–p 5000:5000 -d</a:t>
            </a:r>
            <a:b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To see the running containers 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Connect to the running container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exec -it [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containerId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/bin/bash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Now we can run any Linux bash command </a:t>
            </a:r>
          </a:p>
          <a:p>
            <a:r>
              <a:rPr lang="en-US" dirty="0"/>
              <a:t>To exit from the container, type ‘exit’ and Enter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9B746-F15F-4CFE-96F5-4E13B303470A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2457318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53D0-DC99-41CF-A945-4835F592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API – Pushing Local Docker Image to Remote Docker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90BF-AD9A-4DFF-8266-745067E4A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1280205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Login to docker repo (ACR)</a:t>
            </a:r>
            <a:br>
              <a:rPr lang="en-US" dirty="0"/>
            </a:br>
            <a:r>
              <a:rPr lang="en-US" sz="1100" i="1" dirty="0"/>
              <a:t>USERNAME and PASSWORD will be provided</a:t>
            </a:r>
            <a:endParaRPr lang="en-US" i="1" dirty="0"/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login osrammarkhamdev.azurecr.io –u USERNAME –p PASSWORD</a:t>
            </a:r>
            <a:b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Tag the local docker image  </a:t>
            </a:r>
          </a:p>
          <a:p>
            <a:pPr lvl="1"/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tag [your-docker-image-id] osrammarkhamdev.azurecr.io/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workshop-values-api:yourfirstname.yourlastname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/>
            </a:br>
            <a:endParaRPr lang="en-US" dirty="0"/>
          </a:p>
          <a:p>
            <a:r>
              <a:rPr lang="en-US" dirty="0"/>
              <a:t>Push the image</a:t>
            </a:r>
          </a:p>
          <a:p>
            <a:pPr lvl="1"/>
            <a:r>
              <a:rPr lang="en-US" sz="13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push osrammarkhamdev.azurecr.io/</a:t>
            </a:r>
            <a:r>
              <a:rPr lang="en-US" sz="13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workshop-values-api:yourfirstname.yourlastname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endParaRPr lang="en-US" dirty="0"/>
          </a:p>
          <a:p>
            <a:r>
              <a:rPr lang="en-US" dirty="0"/>
              <a:t>Now we can run any Linux bash command </a:t>
            </a:r>
          </a:p>
          <a:p>
            <a:r>
              <a:rPr lang="en-US" dirty="0"/>
              <a:t>To exit from the container, type ‘exit’ and Enter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9B746-F15F-4CFE-96F5-4E13B303470A}"/>
              </a:ext>
            </a:extLst>
          </p:cNvPr>
          <p:cNvSpPr/>
          <p:nvPr/>
        </p:nvSpPr>
        <p:spPr>
          <a:xfrm>
            <a:off x="10503916" y="122882"/>
            <a:ext cx="157607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844483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347A-A009-4B01-87D7-469E452B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A848B-F390-4488-AA54-3EBF15557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884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8FD9FA-5BE0-4D82-8109-EECE5786A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659" y="1825308"/>
            <a:ext cx="5459215" cy="388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F319BF-7ADD-4EDA-944C-406447A6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Cluster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665006-4FF1-4EB0-AA5B-0003F50BFBAE}"/>
              </a:ext>
            </a:extLst>
          </p:cNvPr>
          <p:cNvGrpSpPr/>
          <p:nvPr/>
        </p:nvGrpSpPr>
        <p:grpSpPr>
          <a:xfrm>
            <a:off x="7128938" y="2285998"/>
            <a:ext cx="2779939" cy="2118633"/>
            <a:chOff x="7128938" y="2285998"/>
            <a:chExt cx="2779939" cy="2118633"/>
          </a:xfrm>
        </p:grpSpPr>
        <p:sp>
          <p:nvSpPr>
            <p:cNvPr id="3" name="Speech Bubble: Rectangle 2">
              <a:extLst>
                <a:ext uri="{FF2B5EF4-FFF2-40B4-BE49-F238E27FC236}">
                  <a16:creationId xmlns:a16="http://schemas.microsoft.com/office/drawing/2014/main" id="{D8EA1DB9-A052-4B84-AF27-E2129EAA0C36}"/>
                </a:ext>
              </a:extLst>
            </p:cNvPr>
            <p:cNvSpPr/>
            <p:nvPr/>
          </p:nvSpPr>
          <p:spPr>
            <a:xfrm>
              <a:off x="7128938" y="2285998"/>
              <a:ext cx="2779939" cy="2118633"/>
            </a:xfrm>
            <a:prstGeom prst="wedgeRectCallout">
              <a:avLst>
                <a:gd name="adj1" fmla="val -81626"/>
                <a:gd name="adj2" fmla="val 78878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50" dirty="0"/>
                <a:t>A Pod can have multiple containers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33FE53-E8FD-4B7D-9BA8-391196E74168}"/>
                </a:ext>
              </a:extLst>
            </p:cNvPr>
            <p:cNvSpPr/>
            <p:nvPr/>
          </p:nvSpPr>
          <p:spPr>
            <a:xfrm>
              <a:off x="7294110" y="2818449"/>
              <a:ext cx="922565" cy="122110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Container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DA3269-FB62-4D66-8D59-CCA70A84C021}"/>
                </a:ext>
              </a:extLst>
            </p:cNvPr>
            <p:cNvSpPr/>
            <p:nvPr/>
          </p:nvSpPr>
          <p:spPr>
            <a:xfrm>
              <a:off x="8837006" y="2848795"/>
              <a:ext cx="922565" cy="122110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Container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FD43E2-34F8-41F8-BB67-026E52853A9A}"/>
                </a:ext>
              </a:extLst>
            </p:cNvPr>
            <p:cNvSpPr txBox="1"/>
            <p:nvPr/>
          </p:nvSpPr>
          <p:spPr>
            <a:xfrm>
              <a:off x="8305749" y="3670219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0939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D584-3090-47EE-9CA1-F04D19D6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to Kubernetes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5C6BBA-A26D-4D25-939C-E04A0DE7D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622" y="2550254"/>
            <a:ext cx="5279061" cy="3538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9A6B73-9F20-4632-B940-0D4A9F5FC311}"/>
              </a:ext>
            </a:extLst>
          </p:cNvPr>
          <p:cNvSpPr txBox="1"/>
          <p:nvPr/>
        </p:nvSpPr>
        <p:spPr>
          <a:xfrm>
            <a:off x="831124" y="2055661"/>
            <a:ext cx="450233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Kubernetes CLI : </a:t>
            </a:r>
            <a:r>
              <a:rPr lang="en-US" dirty="0" err="1"/>
              <a:t>kubectl</a:t>
            </a:r>
            <a:br>
              <a:rPr lang="en-US" dirty="0"/>
            </a:br>
            <a:br>
              <a:rPr lang="en-US" dirty="0"/>
            </a:br>
            <a:r>
              <a:rPr lang="en-US" sz="800" dirty="0">
                <a:solidFill>
                  <a:srgbClr val="0070C0"/>
                </a:solidFill>
                <a:hlinkClick r:id="rId3"/>
              </a:rPr>
              <a:t>https://kubernetes.io/docs/tasks/tools/install-kubectl/#install-with-powershell-from-psgallery</a:t>
            </a:r>
            <a:r>
              <a:rPr lang="en-US" sz="800" dirty="0">
                <a:solidFill>
                  <a:srgbClr val="0070C0"/>
                </a:solidFill>
              </a:rPr>
              <a:t> </a:t>
            </a:r>
          </a:p>
          <a:p>
            <a:endParaRPr lang="en-US" sz="800" dirty="0">
              <a:solidFill>
                <a:srgbClr val="0070C0"/>
              </a:solidFill>
            </a:endParaRPr>
          </a:p>
          <a:p>
            <a:r>
              <a:rPr lang="en-US" sz="800" dirty="0">
                <a:solidFill>
                  <a:srgbClr val="0070C0"/>
                </a:solidFill>
              </a:rPr>
              <a:t>SAMPLE CALLS:</a:t>
            </a:r>
          </a:p>
          <a:p>
            <a:r>
              <a:rPr lang="en-US" sz="800" dirty="0" err="1">
                <a:solidFill>
                  <a:srgbClr val="0070C0"/>
                </a:solidFill>
              </a:rPr>
              <a:t>kubectl</a:t>
            </a:r>
            <a:r>
              <a:rPr lang="en-US" sz="800" dirty="0">
                <a:solidFill>
                  <a:srgbClr val="0070C0"/>
                </a:solidFill>
              </a:rPr>
              <a:t> create –f </a:t>
            </a:r>
            <a:r>
              <a:rPr lang="en-US" sz="800" dirty="0" err="1">
                <a:solidFill>
                  <a:srgbClr val="0070C0"/>
                </a:solidFill>
              </a:rPr>
              <a:t>mydeploymentfile.yml</a:t>
            </a:r>
            <a:r>
              <a:rPr lang="en-US" sz="800" dirty="0">
                <a:solidFill>
                  <a:srgbClr val="0070C0"/>
                </a:solidFill>
              </a:rPr>
              <a:t> –n </a:t>
            </a:r>
            <a:r>
              <a:rPr lang="en-US" sz="800" dirty="0" err="1">
                <a:solidFill>
                  <a:srgbClr val="0070C0"/>
                </a:solidFill>
              </a:rPr>
              <a:t>testnamespace</a:t>
            </a:r>
            <a:br>
              <a:rPr lang="en-US" sz="800" dirty="0">
                <a:solidFill>
                  <a:srgbClr val="0070C0"/>
                </a:solidFill>
              </a:rPr>
            </a:br>
            <a:r>
              <a:rPr lang="en-US" sz="800" dirty="0" err="1">
                <a:solidFill>
                  <a:srgbClr val="0070C0"/>
                </a:solidFill>
              </a:rPr>
              <a:t>kubectl</a:t>
            </a:r>
            <a:r>
              <a:rPr lang="en-US" sz="800" dirty="0">
                <a:solidFill>
                  <a:srgbClr val="0070C0"/>
                </a:solidFill>
              </a:rPr>
              <a:t> get nodes</a:t>
            </a:r>
            <a:br>
              <a:rPr lang="en-US" sz="800" dirty="0">
                <a:solidFill>
                  <a:srgbClr val="0070C0"/>
                </a:solidFill>
              </a:rPr>
            </a:br>
            <a:r>
              <a:rPr lang="en-US" sz="800" dirty="0" err="1">
                <a:solidFill>
                  <a:srgbClr val="0070C0"/>
                </a:solidFill>
              </a:rPr>
              <a:t>kubectl</a:t>
            </a:r>
            <a:r>
              <a:rPr lang="en-US" sz="800" dirty="0">
                <a:solidFill>
                  <a:srgbClr val="0070C0"/>
                </a:solidFill>
              </a:rPr>
              <a:t> get pods –n </a:t>
            </a:r>
            <a:r>
              <a:rPr lang="en-US" sz="800" dirty="0" err="1">
                <a:solidFill>
                  <a:srgbClr val="0070C0"/>
                </a:solidFill>
              </a:rPr>
              <a:t>testname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9D1924-F407-4B45-8F7A-06498F60971E}"/>
              </a:ext>
            </a:extLst>
          </p:cNvPr>
          <p:cNvSpPr/>
          <p:nvPr/>
        </p:nvSpPr>
        <p:spPr>
          <a:xfrm>
            <a:off x="5920569" y="2055661"/>
            <a:ext cx="2581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Kubernetes Dashboard</a:t>
            </a:r>
          </a:p>
        </p:txBody>
      </p:sp>
    </p:spTree>
    <p:extLst>
      <p:ext uri="{BB962C8B-B14F-4D97-AF65-F5344CB8AC3E}">
        <p14:creationId xmlns:p14="http://schemas.microsoft.com/office/powerpoint/2010/main" val="2606896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77F1C-4FCF-43BD-BCBF-5C702731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Progress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96419B-2415-49E2-BF0D-C3023A14B2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846549"/>
              </p:ext>
            </p:extLst>
          </p:nvPr>
        </p:nvGraphicFramePr>
        <p:xfrm>
          <a:off x="677862" y="1326696"/>
          <a:ext cx="8992733" cy="4715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5573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A378-EBA0-4417-8244-5B689E98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Values API Kubernetes Manifests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C3528-2A78-43FE-AF3A-41EC2FAAEA4E}"/>
              </a:ext>
            </a:extLst>
          </p:cNvPr>
          <p:cNvSpPr txBox="1"/>
          <p:nvPr/>
        </p:nvSpPr>
        <p:spPr>
          <a:xfrm>
            <a:off x="371474" y="2396218"/>
            <a:ext cx="49965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apiVersion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apps/v1beta1</a:t>
            </a:r>
          </a:p>
          <a:p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kind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Deployment</a:t>
            </a:r>
          </a:p>
          <a:p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YOURFIRSTNAME-YOURLASTNAME-</a:t>
            </a:r>
            <a:r>
              <a:rPr lang="en-US" sz="9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endParaRPr lang="en-US" sz="9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workshop</a:t>
            </a:r>
          </a:p>
          <a:p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replicas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3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labels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YOURFIRSTNAME-YOURLASTNAME-</a:t>
            </a:r>
            <a:r>
              <a:rPr lang="en-US" sz="9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endParaRPr lang="en-US" sz="9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containers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YOURFIRSTNAME-YOURLASTNAME-</a:t>
            </a:r>
            <a:r>
              <a:rPr lang="en-US" sz="9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endParaRPr lang="en-US" sz="9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9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osram.repo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/fmui:bete1.0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ports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- </a:t>
            </a:r>
            <a:r>
              <a:rPr lang="en-US" sz="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containerPort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-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MY_TEST_ENV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"HELLO THERE"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imagePullSecrets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9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dockerhub</a:t>
            </a:r>
            <a:endParaRPr lang="en-US" sz="9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9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3D8E78-8260-480E-AECC-0C64FA5F05C6}"/>
              </a:ext>
            </a:extLst>
          </p:cNvPr>
          <p:cNvSpPr txBox="1"/>
          <p:nvPr/>
        </p:nvSpPr>
        <p:spPr>
          <a:xfrm>
            <a:off x="338817" y="1978643"/>
            <a:ext cx="2526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sample-</a:t>
            </a:r>
            <a:r>
              <a:rPr lang="en-US" sz="1400" dirty="0" err="1"/>
              <a:t>api</a:t>
            </a:r>
            <a:r>
              <a:rPr lang="en-US" sz="1400" dirty="0"/>
              <a:t>-</a:t>
            </a:r>
            <a:r>
              <a:rPr lang="en-US" sz="1400" dirty="0" err="1"/>
              <a:t>deployment.yaml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2DCC5A-1867-46A2-AE12-938402448CF2}"/>
              </a:ext>
            </a:extLst>
          </p:cNvPr>
          <p:cNvSpPr txBox="1"/>
          <p:nvPr/>
        </p:nvSpPr>
        <p:spPr>
          <a:xfrm>
            <a:off x="5871481" y="2396218"/>
            <a:ext cx="314861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apiVersion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v1</a:t>
            </a:r>
          </a:p>
          <a:p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kind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Service</a:t>
            </a:r>
          </a:p>
          <a:p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metadata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YOURFIRSTNAME-YOURLASTNAME-</a:t>
            </a:r>
            <a:r>
              <a:rPr lang="en-US" sz="9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-svc 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workshop  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spec: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9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LoadBalancer</a:t>
            </a:r>
            <a:endParaRPr lang="en-US" sz="9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selector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YOURFIRSTNAME-YOURLASTNAME-</a:t>
            </a:r>
            <a:r>
              <a:rPr lang="en-US" sz="9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endParaRPr lang="en-US" sz="9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ports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http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protocol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TCP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</a:t>
            </a:r>
          </a:p>
          <a:p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targetPort</a:t>
            </a:r>
            <a:r>
              <a:rPr lang="en-US" sz="9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   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#POD’s port number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A6C9B-F967-486C-8B43-A0A7FF297FD1}"/>
              </a:ext>
            </a:extLst>
          </p:cNvPr>
          <p:cNvSpPr txBox="1"/>
          <p:nvPr/>
        </p:nvSpPr>
        <p:spPr>
          <a:xfrm>
            <a:off x="5871481" y="1978643"/>
            <a:ext cx="214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sample-</a:t>
            </a:r>
            <a:r>
              <a:rPr lang="en-US" sz="1400" dirty="0" err="1"/>
              <a:t>api</a:t>
            </a:r>
            <a:r>
              <a:rPr lang="en-US" sz="1400" dirty="0"/>
              <a:t>-</a:t>
            </a:r>
            <a:r>
              <a:rPr lang="en-US" sz="1400" dirty="0" err="1"/>
              <a:t>service.yaml</a:t>
            </a:r>
            <a:endParaRPr lang="en-US" sz="14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5163D85-5E92-4F0A-8BD0-BE9750C8A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rgbClr val="244357"/>
                </a:solidFill>
                <a:effectLst/>
                <a:latin typeface="Ubuntu Mono"/>
                <a:cs typeface="Courier New" panose="02070309020205020404" pitchFamily="49" charset="0"/>
              </a:rPr>
              <a:t>aspnetcore_sample microsoft/dotnet-samples:aspnetapp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E4A4CBC-7ED1-4CDB-A6DB-346660CD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rgbClr val="244357"/>
                </a:solidFill>
                <a:effectLst/>
                <a:latin typeface="Ubuntu Mono"/>
                <a:cs typeface="Courier New" panose="02070309020205020404" pitchFamily="49" charset="0"/>
              </a:rPr>
              <a:t>microsoft/dotnet-samples:aspnetapp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71B39BB-3808-4678-B5AA-1AAE5027B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4572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rgbClr val="244357"/>
                </a:solidFill>
                <a:effectLst/>
                <a:latin typeface="Ubuntu Mono"/>
                <a:cs typeface="Courier New" panose="02070309020205020404" pitchFamily="49" charset="0"/>
              </a:rPr>
              <a:t>microsoft/dotnet-samples:aspnetapp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789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55E4-0E32-436D-8077-5B8DE040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to Kubernetes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6DD1-7ED6-4B40-897B-45F6B03CF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157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Install and Login to Azure CLI</a:t>
            </a:r>
          </a:p>
          <a:p>
            <a:pPr lvl="1"/>
            <a:r>
              <a:rPr lang="en-US" dirty="0"/>
              <a:t>Install : </a:t>
            </a:r>
            <a:r>
              <a:rPr lang="en-US" dirty="0">
                <a:hlinkClick r:id="rId2"/>
              </a:rPr>
              <a:t>https://docs.microsoft.com/en-us/cli/azure/install-azure-cli-windows?view=azure-cli-latest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Login : </a:t>
            </a:r>
            <a:br>
              <a:rPr lang="en-US" dirty="0"/>
            </a:b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az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login</a:t>
            </a:r>
          </a:p>
          <a:p>
            <a:r>
              <a:rPr lang="en-US" dirty="0"/>
              <a:t>Install Kubernetes CLI</a:t>
            </a:r>
          </a:p>
          <a:p>
            <a:pPr lvl="1"/>
            <a:r>
              <a:rPr lang="en-US" dirty="0">
                <a:hlinkClick r:id="rId3"/>
              </a:rPr>
              <a:t>https://kubernetes.io/docs/tasks/tools/install-kubectl/#install-with-powershell-from-psgallery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OR </a:t>
            </a:r>
            <a:br>
              <a:rPr lang="en-US" dirty="0"/>
            </a:b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az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aks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install-cli </a:t>
            </a:r>
          </a:p>
          <a:p>
            <a:r>
              <a:rPr lang="en-US" dirty="0"/>
              <a:t>Configure </a:t>
            </a:r>
            <a:r>
              <a:rPr lang="en-US" dirty="0" err="1"/>
              <a:t>kubectl</a:t>
            </a:r>
            <a:r>
              <a:rPr lang="en-US" dirty="0"/>
              <a:t> for our cluster</a:t>
            </a:r>
            <a:br>
              <a:rPr lang="en-US" dirty="0"/>
            </a:br>
            <a:r>
              <a:rPr lang="en-CA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az</a:t>
            </a:r>
            <a:r>
              <a:rPr lang="en-CA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aks</a:t>
            </a:r>
            <a:r>
              <a:rPr lang="en-CA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get-credentials --resource-group kubernetes-dev --name osram-markham-k8s-dev </a:t>
            </a:r>
            <a:endParaRPr lang="en-US" sz="1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Verify the </a:t>
            </a:r>
            <a:r>
              <a:rPr lang="en-US" dirty="0" err="1"/>
              <a:t>kubectl</a:t>
            </a:r>
            <a:r>
              <a:rPr lang="en-US" dirty="0"/>
              <a:t> configuration</a:t>
            </a:r>
            <a:br>
              <a:rPr lang="en-US" dirty="0"/>
            </a:br>
            <a:r>
              <a:rPr lang="en-US" sz="13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13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nodes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2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5229-E3A6-4E81-B297-EBD77D77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to 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D6BF-EEDB-438F-9530-F0A2D11DC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deploy the application</a:t>
            </a:r>
            <a:br>
              <a:rPr lang="en-US" dirty="0"/>
            </a:b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create –f sample-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deployment.yaml</a:t>
            </a:r>
            <a:br>
              <a:rPr lang="en-US" dirty="0"/>
            </a:br>
            <a:r>
              <a:rPr lang="en-US" dirty="0"/>
              <a:t>To verify app deployment</a:t>
            </a:r>
            <a:br>
              <a:rPr lang="en-US" dirty="0"/>
            </a:b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pods –n workshop</a:t>
            </a:r>
            <a:b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deployments –n workshop</a:t>
            </a:r>
            <a:b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/>
          </a:p>
          <a:p>
            <a:r>
              <a:rPr lang="en-US" dirty="0"/>
              <a:t>To deploy the service (load balancer service)</a:t>
            </a:r>
            <a:br>
              <a:rPr lang="en-US" dirty="0"/>
            </a:b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create –f sample-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service.yaml</a:t>
            </a:r>
            <a:br>
              <a:rPr lang="en-US" dirty="0"/>
            </a:br>
            <a:r>
              <a:rPr lang="en-US" dirty="0"/>
              <a:t>To verify the service deployment and get the IP address of it</a:t>
            </a:r>
            <a:br>
              <a:rPr lang="en-US" dirty="0"/>
            </a:br>
            <a:r>
              <a:rPr lang="en-US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services -n workshop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Copy/paste the External IP address on Chrome(or any browser,) and browse 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5C965-D448-4F84-A23B-F2043A88F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705" y="4669430"/>
            <a:ext cx="5415642" cy="50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54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5229-E3A6-4E81-B297-EBD77D77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a POD running in 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D6BF-EEDB-438F-9530-F0A2D11DC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 to docker exec command, we can use </a:t>
            </a:r>
            <a:r>
              <a:rPr lang="en-US" dirty="0" err="1"/>
              <a:t>kubectl</a:t>
            </a:r>
            <a:r>
              <a:rPr lang="en-US" dirty="0"/>
              <a:t> exec command to connect (kind a SSH) to a running container</a:t>
            </a:r>
          </a:p>
          <a:p>
            <a:pPr lvl="1"/>
            <a:r>
              <a:rPr lang="en-US" dirty="0"/>
              <a:t>Get your container name</a:t>
            </a:r>
            <a:br>
              <a:rPr lang="en-US" dirty="0"/>
            </a:br>
            <a:r>
              <a:rPr lang="en-US" sz="1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1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pods –n workshop</a:t>
            </a:r>
            <a:br>
              <a:rPr lang="en-US" sz="1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/>
          </a:p>
          <a:p>
            <a:pPr lvl="1"/>
            <a:r>
              <a:rPr lang="en-US" dirty="0"/>
              <a:t>Connect to the Container</a:t>
            </a:r>
            <a:br>
              <a:rPr lang="en-US" dirty="0"/>
            </a:br>
            <a:r>
              <a:rPr lang="en-US" sz="1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sz="1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 –it [CONTAINERNAME] /bin/bash –n workshop</a:t>
            </a:r>
          </a:p>
        </p:txBody>
      </p:sp>
    </p:spTree>
    <p:extLst>
      <p:ext uri="{BB962C8B-B14F-4D97-AF65-F5344CB8AC3E}">
        <p14:creationId xmlns:p14="http://schemas.microsoft.com/office/powerpoint/2010/main" val="9176843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1948</TotalTime>
  <Words>1026</Words>
  <Application>Microsoft Office PowerPoint</Application>
  <PresentationFormat>Widescreen</PresentationFormat>
  <Paragraphs>231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Courier New</vt:lpstr>
      <vt:lpstr>Trebuchet MS</vt:lpstr>
      <vt:lpstr>Ubuntu Mono</vt:lpstr>
      <vt:lpstr>Wingdings 3</vt:lpstr>
      <vt:lpstr>Facet</vt:lpstr>
      <vt:lpstr>Step by Step Dotnetcore API </vt:lpstr>
      <vt:lpstr>Table of Contents</vt:lpstr>
      <vt:lpstr>Target Architecture – What are we building</vt:lpstr>
      <vt:lpstr>Docker - Containers</vt:lpstr>
      <vt:lpstr>Docker - Installing Docker for Windows</vt:lpstr>
      <vt:lpstr>Docker – Docker Hub / Hello World</vt:lpstr>
      <vt:lpstr>Docker – Dockerfile</vt:lpstr>
      <vt:lpstr>Docker – Azure Container Registry</vt:lpstr>
      <vt:lpstr>Values API – Setup local</vt:lpstr>
      <vt:lpstr>Values API – Create Values API</vt:lpstr>
      <vt:lpstr>Values API – Publish the API Runtimes</vt:lpstr>
      <vt:lpstr>Values API – Dockerize</vt:lpstr>
      <vt:lpstr>Values API – Run Docker Container on Local</vt:lpstr>
      <vt:lpstr>Values API – Connecting to a running Container</vt:lpstr>
      <vt:lpstr>Values API – Pushing Local Docker Image to Remote Docker Repo</vt:lpstr>
      <vt:lpstr>DEPLOYMENT</vt:lpstr>
      <vt:lpstr>Kubernetes Cluster</vt:lpstr>
      <vt:lpstr>Accessing to Kubernetes</vt:lpstr>
      <vt:lpstr>Deployment Progress</vt:lpstr>
      <vt:lpstr>Creating Values API Kubernetes Manifests</vt:lpstr>
      <vt:lpstr>Accessing to Kubernetes Cluster</vt:lpstr>
      <vt:lpstr>Deploying to Kubernetes</vt:lpstr>
      <vt:lpstr>Connecting to a POD running in Kubernetes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 Dotnetcore API</dc:title>
  <dc:creator>Omer Yesil</dc:creator>
  <cp:lastModifiedBy>Omer Yesil</cp:lastModifiedBy>
  <cp:revision>72</cp:revision>
  <dcterms:created xsi:type="dcterms:W3CDTF">2019-02-04T16:01:50Z</dcterms:created>
  <dcterms:modified xsi:type="dcterms:W3CDTF">2019-02-14T19:50:15Z</dcterms:modified>
</cp:coreProperties>
</file>