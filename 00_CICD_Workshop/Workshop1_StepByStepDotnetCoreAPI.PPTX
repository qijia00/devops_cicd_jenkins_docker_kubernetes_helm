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8" r:id="rId10"/>
    <p:sldId id="269" r:id="rId11"/>
    <p:sldId id="270" r:id="rId12"/>
    <p:sldId id="271" r:id="rId13"/>
    <p:sldId id="272" r:id="rId14"/>
    <p:sldId id="273" r:id="rId15"/>
    <p:sldId id="27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2CEF9-9AB1-4FAF-9096-916538778638}" type="datetimeFigureOut">
              <a:rPr lang="en-US" smtClean="0"/>
              <a:t>2/7/2019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7068-5D19-4CA1-B9DD-A1770A696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407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2CEF9-9AB1-4FAF-9096-916538778638}" type="datetimeFigureOut">
              <a:rPr lang="en-US" smtClean="0"/>
              <a:t>2/7/2019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7068-5D19-4CA1-B9DD-A1770A696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763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2CEF9-9AB1-4FAF-9096-916538778638}" type="datetimeFigureOut">
              <a:rPr lang="en-US" smtClean="0"/>
              <a:t>2/7/2019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7068-5D19-4CA1-B9DD-A1770A696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576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2CEF9-9AB1-4FAF-9096-916538778638}" type="datetimeFigureOut">
              <a:rPr lang="en-US" smtClean="0"/>
              <a:t>2/7/2019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7068-5D19-4CA1-B9DD-A1770A696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95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2CEF9-9AB1-4FAF-9096-916538778638}" type="datetimeFigureOut">
              <a:rPr lang="en-US" smtClean="0"/>
              <a:t>2/7/2019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7068-5D19-4CA1-B9DD-A1770A696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451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2CEF9-9AB1-4FAF-9096-916538778638}" type="datetimeFigureOut">
              <a:rPr lang="en-US" smtClean="0"/>
              <a:t>2/7/2019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7068-5D19-4CA1-B9DD-A1770A696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800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2CEF9-9AB1-4FAF-9096-916538778638}" type="datetimeFigureOut">
              <a:rPr lang="en-US" smtClean="0"/>
              <a:t>2/7/2019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7068-5D19-4CA1-B9DD-A1770A696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952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2CEF9-9AB1-4FAF-9096-916538778638}" type="datetimeFigureOut">
              <a:rPr lang="en-US" smtClean="0"/>
              <a:t>2/7/2019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7068-5D19-4CA1-B9DD-A1770A696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494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2CEF9-9AB1-4FAF-9096-916538778638}" type="datetimeFigureOut">
              <a:rPr lang="en-US" smtClean="0"/>
              <a:t>2/7/2019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7068-5D19-4CA1-B9DD-A1770A696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891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2CEF9-9AB1-4FAF-9096-916538778638}" type="datetimeFigureOut">
              <a:rPr lang="en-US" smtClean="0"/>
              <a:t>2/7/2019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7068-5D19-4CA1-B9DD-A1770A696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742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2CEF9-9AB1-4FAF-9096-916538778638}" type="datetimeFigureOut">
              <a:rPr lang="en-US" smtClean="0"/>
              <a:t>2/7/2019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7068-5D19-4CA1-B9DD-A1770A6969D7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27652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2CEF9-9AB1-4FAF-9096-916538778638}" type="datetimeFigureOut">
              <a:rPr lang="en-US" smtClean="0"/>
              <a:t>2/7/2019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7068-5D19-4CA1-B9DD-A1770A696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9382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2CEF9-9AB1-4FAF-9096-916538778638}" type="datetimeFigureOut">
              <a:rPr lang="en-US" smtClean="0"/>
              <a:t>2/7/2019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7068-5D19-4CA1-B9DD-A1770A6969D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251014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2CEF9-9AB1-4FAF-9096-916538778638}" type="datetimeFigureOut">
              <a:rPr lang="en-US" smtClean="0"/>
              <a:t>2/7/2019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7068-5D19-4CA1-B9DD-A1770A696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352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2CEF9-9AB1-4FAF-9096-916538778638}" type="datetimeFigureOut">
              <a:rPr lang="en-US" smtClean="0"/>
              <a:t>2/7/2019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7068-5D19-4CA1-B9DD-A1770A696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2433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2CEF9-9AB1-4FAF-9096-916538778638}" type="datetimeFigureOut">
              <a:rPr lang="en-US" smtClean="0"/>
              <a:t>2/7/2019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7068-5D19-4CA1-B9DD-A1770A696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54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2CEF9-9AB1-4FAF-9096-916538778638}" type="datetimeFigureOut">
              <a:rPr lang="en-US" smtClean="0"/>
              <a:t>2/7/2019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7CD7068-5D19-4CA1-B9DD-A1770A696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556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ker.com/resources/what-container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docs.docker.com/docker-for-windows/install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OYesil-ext@dev.azure.com/OYesil-ext/workshops/_git/ws01-dockerize-dotnetcore" TargetMode="External"/><Relationship Id="rId2" Type="http://schemas.openxmlformats.org/officeDocument/2006/relationships/hyperlink" Target="https://dotnet.microsoft.com/download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5000/api/value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5000/api/values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F47F0-E166-46A2-9569-067A1458A0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Step by Step </a:t>
            </a:r>
            <a:r>
              <a:rPr lang="en-US" dirty="0" err="1"/>
              <a:t>Dotnetcore</a:t>
            </a:r>
            <a:r>
              <a:rPr lang="en-US" dirty="0"/>
              <a:t> API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0D24C0-AC1E-4B19-A648-0BC0C623AB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968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B47EB-994D-44C0-A256-D5DDE0BA3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A7257-377D-497E-8F9B-526E54D20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6862"/>
            <a:ext cx="8596668" cy="477519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Target Architecture</a:t>
            </a:r>
          </a:p>
          <a:p>
            <a:r>
              <a:rPr lang="en-US" dirty="0"/>
              <a:t>Docker / Containers</a:t>
            </a:r>
          </a:p>
          <a:p>
            <a:pPr lvl="1"/>
            <a:r>
              <a:rPr lang="en-US" dirty="0"/>
              <a:t>What is containers</a:t>
            </a:r>
          </a:p>
          <a:p>
            <a:pPr lvl="1"/>
            <a:r>
              <a:rPr lang="en-US" dirty="0"/>
              <a:t>Install Docker on Local</a:t>
            </a:r>
          </a:p>
          <a:p>
            <a:pPr lvl="1"/>
            <a:r>
              <a:rPr lang="en-US" dirty="0"/>
              <a:t>Hello World</a:t>
            </a:r>
          </a:p>
          <a:p>
            <a:r>
              <a:rPr lang="en-US" dirty="0"/>
              <a:t>Create Values API and Run Locally</a:t>
            </a:r>
          </a:p>
          <a:p>
            <a:pPr lvl="1"/>
            <a:r>
              <a:rPr lang="en-US" dirty="0"/>
              <a:t>.NET Core / Visual Studio </a:t>
            </a:r>
          </a:p>
          <a:p>
            <a:r>
              <a:rPr lang="en-US" dirty="0"/>
              <a:t>REST API with </a:t>
            </a:r>
            <a:r>
              <a:rPr lang="en-US" dirty="0" err="1"/>
              <a:t>DotnetCore</a:t>
            </a:r>
            <a:endParaRPr lang="en-US" dirty="0"/>
          </a:p>
          <a:p>
            <a:pPr lvl="1"/>
            <a:r>
              <a:rPr lang="en-US" dirty="0" err="1"/>
              <a:t>Dotnetcore</a:t>
            </a:r>
            <a:r>
              <a:rPr lang="en-US" dirty="0"/>
              <a:t> vs .NET Framework</a:t>
            </a:r>
          </a:p>
          <a:p>
            <a:pPr lvl="1"/>
            <a:r>
              <a:rPr lang="en-US" dirty="0"/>
              <a:t>Setting Up PC</a:t>
            </a:r>
          </a:p>
          <a:p>
            <a:pPr lvl="1"/>
            <a:r>
              <a:rPr lang="en-US" dirty="0"/>
              <a:t>Creating API</a:t>
            </a:r>
          </a:p>
          <a:p>
            <a:pPr lvl="1"/>
            <a:r>
              <a:rPr lang="en-US" dirty="0"/>
              <a:t>Running in a container</a:t>
            </a:r>
          </a:p>
          <a:p>
            <a:pPr lvl="1"/>
            <a:r>
              <a:rPr lang="en-US" dirty="0"/>
              <a:t>Deploying to Kubernetes</a:t>
            </a:r>
          </a:p>
          <a:p>
            <a:pPr lvl="1"/>
            <a:r>
              <a:rPr lang="en-US" dirty="0"/>
              <a:t>Adding Swagger capability</a:t>
            </a:r>
          </a:p>
          <a:p>
            <a:pPr lvl="1"/>
            <a:r>
              <a:rPr lang="en-US" dirty="0"/>
              <a:t>Adding End-points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672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E53AF-E4DB-4C1F-974A-260D06F9E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/>
              <a:t>Target Architecture – What are we building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F4CAF50-1D1C-4E24-A22F-7F7389C17435}"/>
              </a:ext>
            </a:extLst>
          </p:cNvPr>
          <p:cNvSpPr txBox="1"/>
          <p:nvPr/>
        </p:nvSpPr>
        <p:spPr>
          <a:xfrm>
            <a:off x="5173094" y="4232379"/>
            <a:ext cx="44936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Tools 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Visual Studio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Dotnet Core SDK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Docker CLI : To build/push docker image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Azure CLI : To connect to Azure</a:t>
            </a:r>
          </a:p>
          <a:p>
            <a:pPr marL="285750" indent="-285750">
              <a:buFontTx/>
              <a:buChar char="-"/>
            </a:pPr>
            <a:r>
              <a:rPr lang="en-US" sz="1600" dirty="0" err="1"/>
              <a:t>Kubectl</a:t>
            </a:r>
            <a:r>
              <a:rPr lang="en-US" sz="1600" dirty="0"/>
              <a:t> : To deploy Calculator API</a:t>
            </a:r>
          </a:p>
          <a:p>
            <a:pPr marL="285750" indent="-285750">
              <a:buFontTx/>
              <a:buChar char="-"/>
            </a:pPr>
            <a:endParaRPr lang="en-US" sz="16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6818F00-090E-4094-BF0B-3B6B56FD472F}"/>
              </a:ext>
            </a:extLst>
          </p:cNvPr>
          <p:cNvGrpSpPr/>
          <p:nvPr/>
        </p:nvGrpSpPr>
        <p:grpSpPr>
          <a:xfrm>
            <a:off x="788069" y="2228500"/>
            <a:ext cx="6119134" cy="3618522"/>
            <a:chOff x="5196404" y="2243219"/>
            <a:chExt cx="6119134" cy="3618522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BEDC875-7B6A-4D88-9B1B-ADBAE4460717}"/>
                </a:ext>
              </a:extLst>
            </p:cNvPr>
            <p:cNvSpPr/>
            <p:nvPr/>
          </p:nvSpPr>
          <p:spPr>
            <a:xfrm>
              <a:off x="5196404" y="2243219"/>
              <a:ext cx="3360615" cy="361852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5F16247-17DD-445E-ADEB-82DF2A4C1A5A}"/>
                </a:ext>
              </a:extLst>
            </p:cNvPr>
            <p:cNvSpPr/>
            <p:nvPr/>
          </p:nvSpPr>
          <p:spPr>
            <a:xfrm>
              <a:off x="5298005" y="2411255"/>
              <a:ext cx="3104336" cy="2762349"/>
            </a:xfrm>
            <a:prstGeom prst="rect">
              <a:avLst/>
            </a:prstGeom>
            <a:solidFill>
              <a:schemeClr val="accent4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EA97E75-575D-48A1-BAD1-A5E43292A107}"/>
                </a:ext>
              </a:extLst>
            </p:cNvPr>
            <p:cNvSpPr/>
            <p:nvPr/>
          </p:nvSpPr>
          <p:spPr>
            <a:xfrm>
              <a:off x="5532467" y="2594911"/>
              <a:ext cx="1899138" cy="193040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Values API</a:t>
              </a:r>
            </a:p>
          </p:txBody>
        </p:sp>
        <p:pic>
          <p:nvPicPr>
            <p:cNvPr id="3080" name="Picture 8" descr="Image result for dotnetcore icon">
              <a:extLst>
                <a:ext uri="{FF2B5EF4-FFF2-40B4-BE49-F238E27FC236}">
                  <a16:creationId xmlns:a16="http://schemas.microsoft.com/office/drawing/2014/main" id="{3224542D-B525-42D3-9BAE-6BAB96FB69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75520" y="3915830"/>
              <a:ext cx="564549" cy="4403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84" name="Picture 12" descr="Image result for restful icon">
              <a:extLst>
                <a:ext uri="{FF2B5EF4-FFF2-40B4-BE49-F238E27FC236}">
                  <a16:creationId xmlns:a16="http://schemas.microsoft.com/office/drawing/2014/main" id="{E7D9CFBE-97DB-4047-A435-45848088BF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82036" y="3839698"/>
              <a:ext cx="564549" cy="5635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C9894EBB-2810-4820-B5C6-74855924556C}"/>
                </a:ext>
              </a:extLst>
            </p:cNvPr>
            <p:cNvGrpSpPr/>
            <p:nvPr/>
          </p:nvGrpSpPr>
          <p:grpSpPr>
            <a:xfrm>
              <a:off x="7375737" y="2797784"/>
              <a:ext cx="1407145" cy="375927"/>
              <a:chOff x="5024132" y="2883551"/>
              <a:chExt cx="1407145" cy="375927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A1930874-0DF9-433D-A2BC-04BE20ED5A0F}"/>
                  </a:ext>
                </a:extLst>
              </p:cNvPr>
              <p:cNvCxnSpPr/>
              <p:nvPr/>
            </p:nvCxnSpPr>
            <p:spPr>
              <a:xfrm>
                <a:off x="5080000" y="3177417"/>
                <a:ext cx="119575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9E7641E5-723F-4DE1-A0C5-7D2407AB28C7}"/>
                  </a:ext>
                </a:extLst>
              </p:cNvPr>
              <p:cNvSpPr/>
              <p:nvPr/>
            </p:nvSpPr>
            <p:spPr>
              <a:xfrm>
                <a:off x="6276532" y="3095355"/>
                <a:ext cx="154745" cy="16412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EA3A297-D532-4ED3-A284-FFC1AE733184}"/>
                  </a:ext>
                </a:extLst>
              </p:cNvPr>
              <p:cNvSpPr txBox="1"/>
              <p:nvPr/>
            </p:nvSpPr>
            <p:spPr>
              <a:xfrm>
                <a:off x="5024132" y="2883551"/>
                <a:ext cx="830677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dirty="0"/>
                  <a:t>List Values</a:t>
                </a:r>
              </a:p>
            </p:txBody>
          </p:sp>
        </p:grpSp>
        <p:pic>
          <p:nvPicPr>
            <p:cNvPr id="3090" name="Picture 18" descr="Image result for docker container icon">
              <a:extLst>
                <a:ext uri="{FF2B5EF4-FFF2-40B4-BE49-F238E27FC236}">
                  <a16:creationId xmlns:a16="http://schemas.microsoft.com/office/drawing/2014/main" id="{773AD484-61B3-4414-A964-E42A8CD14F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76242" y="4584008"/>
              <a:ext cx="543965" cy="4646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5B252759-EFA9-4C01-A0D0-64A4F1E36B00}"/>
                </a:ext>
              </a:extLst>
            </p:cNvPr>
            <p:cNvGrpSpPr/>
            <p:nvPr/>
          </p:nvGrpSpPr>
          <p:grpSpPr>
            <a:xfrm>
              <a:off x="7823158" y="5323715"/>
              <a:ext cx="571368" cy="472836"/>
              <a:chOff x="8863429" y="4110875"/>
              <a:chExt cx="571368" cy="472836"/>
            </a:xfrm>
          </p:grpSpPr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103A8192-E777-4E9D-B719-BC71CB2315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63429" y="4110875"/>
                <a:ext cx="571368" cy="472836"/>
              </a:xfrm>
              <a:prstGeom prst="rect">
                <a:avLst/>
              </a:prstGeom>
            </p:spPr>
          </p:pic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A5D1B7CC-1915-402D-90DA-A91118154E67}"/>
                  </a:ext>
                </a:extLst>
              </p:cNvPr>
              <p:cNvSpPr/>
              <p:nvPr/>
            </p:nvSpPr>
            <p:spPr>
              <a:xfrm>
                <a:off x="8922676" y="4203896"/>
                <a:ext cx="448179" cy="26161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US" sz="105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AKS</a:t>
                </a:r>
                <a:endParaRPr lang="en-US" sz="105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7D1D2E4-F94E-466B-BD42-AEDCE44D2A4D}"/>
                </a:ext>
              </a:extLst>
            </p:cNvPr>
            <p:cNvSpPr txBox="1"/>
            <p:nvPr/>
          </p:nvSpPr>
          <p:spPr>
            <a:xfrm>
              <a:off x="8557019" y="2714679"/>
              <a:ext cx="25896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GET http://[service-ip]/api/values</a:t>
              </a: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935DB068-E510-452B-94DB-74877AC37B9D}"/>
                </a:ext>
              </a:extLst>
            </p:cNvPr>
            <p:cNvGrpSpPr/>
            <p:nvPr/>
          </p:nvGrpSpPr>
          <p:grpSpPr>
            <a:xfrm>
              <a:off x="7396661" y="3528786"/>
              <a:ext cx="1407145" cy="375927"/>
              <a:chOff x="5024132" y="2883551"/>
              <a:chExt cx="1407145" cy="375927"/>
            </a:xfrm>
          </p:grpSpPr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4E09C9DA-B111-49E9-A42A-3DA07CFA31A8}"/>
                  </a:ext>
                </a:extLst>
              </p:cNvPr>
              <p:cNvCxnSpPr/>
              <p:nvPr/>
            </p:nvCxnSpPr>
            <p:spPr>
              <a:xfrm>
                <a:off x="5080000" y="3177417"/>
                <a:ext cx="119575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1CED5C85-A460-48F8-AC75-5D1C6EE59C16}"/>
                  </a:ext>
                </a:extLst>
              </p:cNvPr>
              <p:cNvSpPr/>
              <p:nvPr/>
            </p:nvSpPr>
            <p:spPr>
              <a:xfrm>
                <a:off x="6276532" y="3095355"/>
                <a:ext cx="154745" cy="16412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A01D3C4-AE96-4627-8F1B-2CEFF1A91C27}"/>
                  </a:ext>
                </a:extLst>
              </p:cNvPr>
              <p:cNvSpPr txBox="1"/>
              <p:nvPr/>
            </p:nvSpPr>
            <p:spPr>
              <a:xfrm>
                <a:off x="5024132" y="2883551"/>
                <a:ext cx="1271502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dirty="0"/>
                  <a:t>Get specific value</a:t>
                </a:r>
              </a:p>
            </p:txBody>
          </p: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E21E80A-266C-4515-9CA3-DCF401AC511D}"/>
                </a:ext>
              </a:extLst>
            </p:cNvPr>
            <p:cNvSpPr txBox="1"/>
            <p:nvPr/>
          </p:nvSpPr>
          <p:spPr>
            <a:xfrm>
              <a:off x="8565618" y="3436839"/>
              <a:ext cx="27499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GET http://[service-ip]/api/values/1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33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31F35-3F05-499F-A532-CFFD1BB9C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- Containers</a:t>
            </a:r>
          </a:p>
        </p:txBody>
      </p:sp>
      <p:pic>
        <p:nvPicPr>
          <p:cNvPr id="1036" name="Picture 12" descr="https://www.docker.com/sites/default/files/d8/styles/large/public/2018-11/container-what-is-container.png?itok=vle7kjDj">
            <a:extLst>
              <a:ext uri="{FF2B5EF4-FFF2-40B4-BE49-F238E27FC236}">
                <a16:creationId xmlns:a16="http://schemas.microsoft.com/office/drawing/2014/main" id="{1A6C22B5-666C-489D-A4E4-E4C9530822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24" t="10238" r="6657" b="9156"/>
          <a:stretch/>
        </p:blipFill>
        <p:spPr bwMode="auto">
          <a:xfrm>
            <a:off x="6510215" y="1680308"/>
            <a:ext cx="4736123" cy="3809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B4587E1-20BC-47E1-9F2F-A9B81184E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657" y="1930400"/>
            <a:ext cx="5559343" cy="422812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 container is a standard </a:t>
            </a:r>
            <a:r>
              <a:rPr lang="en-US" b="1" dirty="0"/>
              <a:t>unit of software </a:t>
            </a:r>
            <a:r>
              <a:rPr lang="en-US" dirty="0"/>
              <a:t>that </a:t>
            </a:r>
            <a:r>
              <a:rPr lang="en-US" b="1" dirty="0"/>
              <a:t>packages</a:t>
            </a:r>
            <a:r>
              <a:rPr lang="en-US" dirty="0"/>
              <a:t> up </a:t>
            </a:r>
            <a:r>
              <a:rPr lang="en-US" b="1" dirty="0"/>
              <a:t>code and all its dependencies </a:t>
            </a:r>
            <a:r>
              <a:rPr lang="en-US" dirty="0"/>
              <a:t>so the application runs quickly and reliably from one computing environment to another. A Docker container image is a </a:t>
            </a:r>
            <a:r>
              <a:rPr lang="en-US" b="1" dirty="0"/>
              <a:t>lightweight</a:t>
            </a:r>
            <a:r>
              <a:rPr lang="en-US" dirty="0"/>
              <a:t>, </a:t>
            </a:r>
            <a:r>
              <a:rPr lang="en-US" b="1" dirty="0"/>
              <a:t>standalone</a:t>
            </a:r>
            <a:r>
              <a:rPr lang="en-US" dirty="0"/>
              <a:t>, </a:t>
            </a:r>
            <a:r>
              <a:rPr lang="en-US" b="1" dirty="0"/>
              <a:t>executable</a:t>
            </a:r>
            <a:r>
              <a:rPr lang="en-US" dirty="0"/>
              <a:t> package of software that includes everything needed to run an application: code, runtime, system tools, system libraries and settings.</a:t>
            </a:r>
          </a:p>
          <a:p>
            <a:r>
              <a:rPr lang="en-US" dirty="0"/>
              <a:t>Standard – portable anywhere</a:t>
            </a:r>
          </a:p>
          <a:p>
            <a:r>
              <a:rPr lang="en-US" dirty="0"/>
              <a:t>Lightweight – Only required things for your app</a:t>
            </a:r>
          </a:p>
          <a:p>
            <a:r>
              <a:rPr lang="en-US" dirty="0"/>
              <a:t>Secure – Isolated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More info: </a:t>
            </a:r>
            <a:r>
              <a:rPr lang="en-US" dirty="0">
                <a:hlinkClick r:id="rId3"/>
              </a:rPr>
              <a:t>https://www.docker.com/resources/what-container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19629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0720F-0286-4879-ADAE-D4384B8AC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- Installing Docker for Windows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1A8B1-41AD-485E-A3F1-01511C6BF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98171"/>
            <a:ext cx="8596668" cy="434319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Download Docker Desktop for Windows</a:t>
            </a:r>
          </a:p>
          <a:p>
            <a:pPr lvl="1"/>
            <a:r>
              <a:rPr lang="en-US" dirty="0"/>
              <a:t>Hyper-V must be installed on your PC (from Add Remove Programs)</a:t>
            </a:r>
          </a:p>
          <a:p>
            <a:pPr lvl="1"/>
            <a:r>
              <a:rPr lang="en-US" dirty="0"/>
              <a:t>Register to </a:t>
            </a:r>
            <a:r>
              <a:rPr lang="en-US" dirty="0" err="1"/>
              <a:t>Dockerhub</a:t>
            </a:r>
            <a:endParaRPr lang="en-US" dirty="0"/>
          </a:p>
          <a:p>
            <a:pPr lvl="1"/>
            <a:r>
              <a:rPr lang="en-US" dirty="0"/>
              <a:t>Download and install</a:t>
            </a:r>
          </a:p>
          <a:p>
            <a:pPr lvl="2"/>
            <a:r>
              <a:rPr lang="en-US" dirty="0">
                <a:hlinkClick r:id="rId2"/>
              </a:rPr>
              <a:t>https://docs.docker.com/docker-for-windows/install/</a:t>
            </a: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r>
              <a:rPr lang="en-US" dirty="0"/>
              <a:t>Login to Docker</a:t>
            </a:r>
          </a:p>
          <a:p>
            <a:pPr lvl="1"/>
            <a:r>
              <a:rPr lang="en-US" dirty="0"/>
              <a:t>From Docker for Windows</a:t>
            </a:r>
          </a:p>
          <a:p>
            <a:pPr lvl="1"/>
            <a:r>
              <a:rPr lang="en-US" dirty="0"/>
              <a:t>Or run the following command in command line/</a:t>
            </a:r>
            <a:r>
              <a:rPr lang="en-US" dirty="0" err="1"/>
              <a:t>powershell</a:t>
            </a:r>
            <a:endParaRPr lang="en-US" dirty="0"/>
          </a:p>
          <a:p>
            <a:pPr lvl="2"/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docker login -u [your-username] -p [</a:t>
            </a:r>
            <a:r>
              <a:rPr lang="en-US" dirty="0" err="1">
                <a:solidFill>
                  <a:srgbClr val="0070C0"/>
                </a:solidFill>
              </a:rPr>
              <a:t>yourpassword</a:t>
            </a:r>
            <a:r>
              <a:rPr lang="en-US" dirty="0">
                <a:solidFill>
                  <a:srgbClr val="0070C0"/>
                </a:solidFill>
              </a:rPr>
              <a:t>]</a:t>
            </a:r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D3D2B0-6C8E-4AC6-BB43-CACB62180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9275" y="3150175"/>
            <a:ext cx="3159463" cy="121807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1E2515D-4B55-4CA0-9589-C8AFCAE21CD2}"/>
              </a:ext>
            </a:extLst>
          </p:cNvPr>
          <p:cNvSpPr/>
          <p:nvPr/>
        </p:nvSpPr>
        <p:spPr>
          <a:xfrm>
            <a:off x="10503916" y="122882"/>
            <a:ext cx="157607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Hands-on Lab</a:t>
            </a:r>
          </a:p>
        </p:txBody>
      </p:sp>
    </p:spTree>
    <p:extLst>
      <p:ext uri="{BB962C8B-B14F-4D97-AF65-F5344CB8AC3E}">
        <p14:creationId xmlns:p14="http://schemas.microsoft.com/office/powerpoint/2010/main" val="4285792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2623D-F759-4065-BDE1-CC86FF389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– Docker Hub / Hello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A478E-40FF-4F94-84A0-005EC1994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Browse Docker-hub</a:t>
            </a:r>
          </a:p>
          <a:p>
            <a:pPr lvl="1"/>
            <a:r>
              <a:rPr lang="en-US" dirty="0"/>
              <a:t>Search hello-world docker image</a:t>
            </a:r>
          </a:p>
          <a:p>
            <a:r>
              <a:rPr lang="en-US" dirty="0"/>
              <a:t>Run hello-world from command-line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docker run hello-world</a:t>
            </a:r>
          </a:p>
          <a:p>
            <a:r>
              <a:rPr lang="en-US" dirty="0"/>
              <a:t>Some docker-cli commands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docker </a:t>
            </a:r>
            <a:r>
              <a:rPr lang="en-US" dirty="0" err="1">
                <a:solidFill>
                  <a:srgbClr val="0070C0"/>
                </a:solidFill>
              </a:rPr>
              <a:t>ps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shows running docker containers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docker images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shows images exist in local repo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docker search hello-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lists available images in the remote repo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docker build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builds a new docker image from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dockerfile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r>
              <a:rPr lang="en-US" dirty="0">
                <a:solidFill>
                  <a:srgbClr val="0070C0"/>
                </a:solidFill>
              </a:rPr>
              <a:t>docker push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pushes locally built image to remote repo</a:t>
            </a:r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17FA06-ADF4-4203-9FF4-4759ABEF49BC}"/>
              </a:ext>
            </a:extLst>
          </p:cNvPr>
          <p:cNvSpPr/>
          <p:nvPr/>
        </p:nvSpPr>
        <p:spPr>
          <a:xfrm>
            <a:off x="10503916" y="122882"/>
            <a:ext cx="157607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Hands-on Lab</a:t>
            </a:r>
          </a:p>
        </p:txBody>
      </p:sp>
    </p:spTree>
    <p:extLst>
      <p:ext uri="{BB962C8B-B14F-4D97-AF65-F5344CB8AC3E}">
        <p14:creationId xmlns:p14="http://schemas.microsoft.com/office/powerpoint/2010/main" val="1115285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77F55-EB10-4863-BDCE-D2B9D0117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– Dockerfile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9AB24-871D-428F-9469-432EAB85D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/>
          <a:lstStyle/>
          <a:p>
            <a:r>
              <a:rPr lang="en-US" dirty="0"/>
              <a:t>Docker can </a:t>
            </a:r>
            <a:r>
              <a:rPr lang="en-US" b="1" dirty="0"/>
              <a:t>build images automatically </a:t>
            </a:r>
            <a:r>
              <a:rPr lang="en-US" dirty="0"/>
              <a:t>by reading the instructions from a </a:t>
            </a:r>
            <a:r>
              <a:rPr lang="en-US" b="1" dirty="0"/>
              <a:t>Dockerfile</a:t>
            </a:r>
            <a:r>
              <a:rPr lang="en-US" dirty="0"/>
              <a:t>. </a:t>
            </a:r>
          </a:p>
          <a:p>
            <a:r>
              <a:rPr lang="en-US" dirty="0"/>
              <a:t>A Dockerfile is a </a:t>
            </a:r>
            <a:r>
              <a:rPr lang="en-US" b="1" dirty="0"/>
              <a:t>text document </a:t>
            </a:r>
            <a:r>
              <a:rPr lang="en-US" dirty="0"/>
              <a:t>that contains all the commands a user could call on the command line to assemble an image. </a:t>
            </a:r>
          </a:p>
          <a:p>
            <a:r>
              <a:rPr lang="en-US" dirty="0"/>
              <a:t>Using docker build users can create an automated build that executes several command-line instructions in succession.</a:t>
            </a:r>
          </a:p>
          <a:p>
            <a:r>
              <a:rPr lang="en-US" dirty="0"/>
              <a:t>Sample: </a:t>
            </a:r>
            <a:r>
              <a:rPr lang="en-US" dirty="0" err="1"/>
              <a:t>dockerfile</a:t>
            </a:r>
            <a:endParaRPr lang="en-US" dirty="0"/>
          </a:p>
          <a:p>
            <a:pPr lvl="1"/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1859CE-B754-4B14-8EAE-7DFDD6F42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246" y="4676775"/>
            <a:ext cx="2755200" cy="160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68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2623D-F759-4065-BDE1-CC86FF389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– Azure Container Registry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A478E-40FF-4F94-84A0-005EC1994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10162604" cy="3880773"/>
          </a:xfrm>
        </p:spPr>
        <p:txBody>
          <a:bodyPr/>
          <a:lstStyle/>
          <a:p>
            <a:r>
              <a:rPr lang="en-US" dirty="0"/>
              <a:t>ACR – Similar to </a:t>
            </a:r>
            <a:r>
              <a:rPr lang="en-US" dirty="0" err="1"/>
              <a:t>Github</a:t>
            </a:r>
            <a:endParaRPr lang="en-US" dirty="0"/>
          </a:p>
          <a:p>
            <a:pPr lvl="1"/>
            <a:r>
              <a:rPr lang="en-US" dirty="0"/>
              <a:t>Our private repo</a:t>
            </a:r>
          </a:p>
          <a:p>
            <a:pPr lvl="1"/>
            <a:r>
              <a:rPr lang="en-US" dirty="0"/>
              <a:t>Hosted in Azure – Fully managed</a:t>
            </a:r>
          </a:p>
          <a:p>
            <a:r>
              <a:rPr lang="en-US" dirty="0"/>
              <a:t>Login to Azure Container Registry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docker login osrammarkhamdev.azurecr.io –u [will-be-provided] –p [will-be-provided]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CD5530-7F47-4292-84CA-847E81DC6CAD}"/>
              </a:ext>
            </a:extLst>
          </p:cNvPr>
          <p:cNvSpPr/>
          <p:nvPr/>
        </p:nvSpPr>
        <p:spPr>
          <a:xfrm>
            <a:off x="10503916" y="122882"/>
            <a:ext cx="157607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Hands-on Lab</a:t>
            </a:r>
          </a:p>
        </p:txBody>
      </p:sp>
    </p:spTree>
    <p:extLst>
      <p:ext uri="{BB962C8B-B14F-4D97-AF65-F5344CB8AC3E}">
        <p14:creationId xmlns:p14="http://schemas.microsoft.com/office/powerpoint/2010/main" val="3311631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C2781-B2E2-4EA5-A776-A5D8115D0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Values API – Setup local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75A7B-1AF0-4281-88BF-C2602C85D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10740943" cy="3888519"/>
          </a:xfrm>
        </p:spPr>
        <p:txBody>
          <a:bodyPr/>
          <a:lstStyle/>
          <a:p>
            <a:r>
              <a:rPr lang="en-US" dirty="0"/>
              <a:t>If not installed</a:t>
            </a:r>
          </a:p>
          <a:p>
            <a:pPr lvl="1"/>
            <a:r>
              <a:rPr lang="en-US" dirty="0"/>
              <a:t>Install Visual Studio</a:t>
            </a:r>
          </a:p>
          <a:p>
            <a:pPr lvl="1"/>
            <a:r>
              <a:rPr lang="en-US" dirty="0"/>
              <a:t>Install .NET Core 2.2 SDK</a:t>
            </a:r>
            <a:br>
              <a:rPr lang="en-US" dirty="0"/>
            </a:br>
            <a:r>
              <a:rPr lang="en-US" dirty="0">
                <a:hlinkClick r:id="rId2"/>
              </a:rPr>
              <a:t>https://dotnet.microsoft.com/download</a:t>
            </a:r>
            <a:r>
              <a:rPr lang="en-US" dirty="0"/>
              <a:t> </a:t>
            </a:r>
          </a:p>
          <a:p>
            <a:r>
              <a:rPr lang="en-US" dirty="0"/>
              <a:t>Clone git repo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hlinkClick r:id="rId3"/>
              </a:rPr>
              <a:t>https://OYesil-ext@dev.azure.com/OYesil-ext/workshops/_git/ws01-dockerize-dotnetcore</a:t>
            </a:r>
            <a:endParaRPr lang="en-US" dirty="0"/>
          </a:p>
          <a:p>
            <a:r>
              <a:rPr lang="en-US" dirty="0"/>
              <a:t>Create a branch under your name, and push that branch to remote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git checkout –b branch [</a:t>
            </a:r>
            <a:r>
              <a:rPr lang="en-US" dirty="0" err="1">
                <a:solidFill>
                  <a:srgbClr val="0070C0"/>
                </a:solidFill>
              </a:rPr>
              <a:t>firstname</a:t>
            </a:r>
            <a:r>
              <a:rPr lang="en-US" dirty="0">
                <a:solidFill>
                  <a:srgbClr val="0070C0"/>
                </a:solidFill>
              </a:rPr>
              <a:t>].[</a:t>
            </a:r>
            <a:r>
              <a:rPr lang="en-US" dirty="0" err="1">
                <a:solidFill>
                  <a:srgbClr val="0070C0"/>
                </a:solidFill>
              </a:rPr>
              <a:t>lastname</a:t>
            </a:r>
            <a:r>
              <a:rPr lang="en-US" dirty="0">
                <a:solidFill>
                  <a:srgbClr val="0070C0"/>
                </a:solidFill>
              </a:rPr>
              <a:t>]</a:t>
            </a:r>
            <a:r>
              <a:rPr lang="en-US" dirty="0"/>
              <a:t>    #example: git checkout -b branch </a:t>
            </a:r>
            <a:r>
              <a:rPr lang="en-US" dirty="0" err="1"/>
              <a:t>omer.Yesil</a:t>
            </a:r>
            <a:endParaRPr lang="en-US" dirty="0"/>
          </a:p>
          <a:p>
            <a:pPr lvl="1"/>
            <a:r>
              <a:rPr lang="en-US" dirty="0">
                <a:solidFill>
                  <a:srgbClr val="0070C0"/>
                </a:solidFill>
              </a:rPr>
              <a:t>git push –u origin [</a:t>
            </a:r>
            <a:r>
              <a:rPr lang="en-US" dirty="0" err="1">
                <a:solidFill>
                  <a:srgbClr val="0070C0"/>
                </a:solidFill>
              </a:rPr>
              <a:t>firstname</a:t>
            </a:r>
            <a:r>
              <a:rPr lang="en-US" dirty="0">
                <a:solidFill>
                  <a:srgbClr val="0070C0"/>
                </a:solidFill>
              </a:rPr>
              <a:t>].[</a:t>
            </a:r>
            <a:r>
              <a:rPr lang="en-US" dirty="0" err="1">
                <a:solidFill>
                  <a:srgbClr val="0070C0"/>
                </a:solidFill>
              </a:rPr>
              <a:t>lastname</a:t>
            </a:r>
            <a:r>
              <a:rPr lang="en-US" dirty="0">
                <a:solidFill>
                  <a:srgbClr val="0070C0"/>
                </a:solidFill>
              </a:rPr>
              <a:t>]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E84DE2-0933-4CFF-86F0-48D537F2EA0E}"/>
              </a:ext>
            </a:extLst>
          </p:cNvPr>
          <p:cNvSpPr/>
          <p:nvPr/>
        </p:nvSpPr>
        <p:spPr>
          <a:xfrm>
            <a:off x="10503916" y="122882"/>
            <a:ext cx="157607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Hands-on Lab</a:t>
            </a:r>
          </a:p>
        </p:txBody>
      </p:sp>
    </p:spTree>
    <p:extLst>
      <p:ext uri="{BB962C8B-B14F-4D97-AF65-F5344CB8AC3E}">
        <p14:creationId xmlns:p14="http://schemas.microsoft.com/office/powerpoint/2010/main" val="3352066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14C71-BDC4-4CE6-9153-F3BEF0489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Values API – Create Values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0AA96-B03F-41DC-9ADF-140DDE2CE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95535"/>
            <a:ext cx="8596668" cy="496157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From Visual Studio, select New Project from File menu, and create an “ASP.NET Core Web Application” from the templates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Run the application to test on local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1A6411-1F68-450C-8946-C2B5B45E0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81" y="2213575"/>
            <a:ext cx="5432376" cy="3544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2CD6C3-8731-491C-BD2E-E27DE8F67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081" y="2423351"/>
            <a:ext cx="4626708" cy="333483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A05E1C3-9477-4171-AE02-431589F4A910}"/>
              </a:ext>
            </a:extLst>
          </p:cNvPr>
          <p:cNvSpPr/>
          <p:nvPr/>
        </p:nvSpPr>
        <p:spPr>
          <a:xfrm>
            <a:off x="10503916" y="122882"/>
            <a:ext cx="157607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Hands-on Lab</a:t>
            </a:r>
          </a:p>
        </p:txBody>
      </p:sp>
    </p:spTree>
    <p:extLst>
      <p:ext uri="{BB962C8B-B14F-4D97-AF65-F5344CB8AC3E}">
        <p14:creationId xmlns:p14="http://schemas.microsoft.com/office/powerpoint/2010/main" val="2570910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8A9A7-3A10-40EF-90C3-3DCFF77FB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Values API – Publish the API Runtimes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75E31-FF60-4668-BEFA-385938841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Publish the Application. Run the dotnet cli command under ../</a:t>
            </a:r>
            <a:r>
              <a:rPr lang="en-US" dirty="0" err="1"/>
              <a:t>src</a:t>
            </a:r>
            <a:r>
              <a:rPr lang="en-US" dirty="0"/>
              <a:t>/</a:t>
            </a:r>
            <a:r>
              <a:rPr lang="en-US" dirty="0" err="1"/>
              <a:t>Osram.Calculator.Api</a:t>
            </a:r>
            <a:r>
              <a:rPr lang="en-US" dirty="0"/>
              <a:t> folder (you can also publish from Visual Studio)</a:t>
            </a:r>
          </a:p>
          <a:p>
            <a:pPr lvl="1"/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dotnet publish -c release -o publish </a:t>
            </a:r>
            <a:b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To test the published code run the following under the publish folder </a:t>
            </a:r>
          </a:p>
          <a:p>
            <a:pPr lvl="1"/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dotnet Osram.Values.Api.dll</a:t>
            </a:r>
          </a:p>
          <a:p>
            <a:pPr lvl="1"/>
            <a:r>
              <a:rPr lang="en-US" dirty="0"/>
              <a:t>Verify : </a:t>
            </a:r>
            <a:r>
              <a:rPr lang="en-US" dirty="0">
                <a:hlinkClick r:id="rId2"/>
              </a:rPr>
              <a:t>http://localhost:5000/api/values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Now you can kill the running dotnet process (CTRL+C)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CEABAA-55F3-43EC-B7E0-EB53F1B9708D}"/>
              </a:ext>
            </a:extLst>
          </p:cNvPr>
          <p:cNvSpPr/>
          <p:nvPr/>
        </p:nvSpPr>
        <p:spPr>
          <a:xfrm>
            <a:off x="10503916" y="122882"/>
            <a:ext cx="157607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Hands-on Lab</a:t>
            </a:r>
          </a:p>
        </p:txBody>
      </p:sp>
    </p:spTree>
    <p:extLst>
      <p:ext uri="{BB962C8B-B14F-4D97-AF65-F5344CB8AC3E}">
        <p14:creationId xmlns:p14="http://schemas.microsoft.com/office/powerpoint/2010/main" val="2191942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8A9A7-3A10-40EF-90C3-3DCFF77FB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Values API – Dockerize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75E31-FF60-4668-BEFA-385938841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a new text file named </a:t>
            </a:r>
            <a:r>
              <a:rPr lang="en-US" dirty="0" err="1"/>
              <a:t>dockerfile</a:t>
            </a:r>
            <a:r>
              <a:rPr lang="en-US" dirty="0"/>
              <a:t> under ../</a:t>
            </a:r>
            <a:r>
              <a:rPr lang="en-US" dirty="0" err="1"/>
              <a:t>src</a:t>
            </a:r>
            <a:r>
              <a:rPr lang="en-US" dirty="0"/>
              <a:t>/</a:t>
            </a:r>
            <a:r>
              <a:rPr lang="en-US" dirty="0" err="1"/>
              <a:t>Osram.Calculator.Api</a:t>
            </a:r>
            <a:r>
              <a:rPr lang="en-US" dirty="0"/>
              <a:t> folder, and set its’ content as below: </a:t>
            </a:r>
          </a:p>
          <a:p>
            <a:pPr marL="400050" lvl="1" indent="0">
              <a:buNone/>
            </a:pPr>
            <a:r>
              <a:rPr lang="en-US" sz="11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11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microsoft</a:t>
            </a:r>
            <a:r>
              <a:rPr lang="en-US" sz="11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/dotnet:2.2-aspnetcore-runtime AS runtime</a:t>
            </a:r>
            <a:br>
              <a:rPr lang="en-US" sz="11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1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WORKDIR /app</a:t>
            </a:r>
            <a:br>
              <a:rPr lang="en-US" sz="11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COPY publish/. /app/</a:t>
            </a:r>
            <a:br>
              <a:rPr lang="en-US" sz="11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1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ENV ASPNETCORE_URLS=http://+:5000 </a:t>
            </a:r>
            <a:br>
              <a:rPr lang="en-US" sz="11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1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ENTRYPOINT ["dotnet", "Osram.Values.Api.dll"]</a:t>
            </a:r>
            <a:endParaRPr lang="en-US" sz="14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Run the following command to build docker image</a:t>
            </a:r>
            <a:br>
              <a:rPr lang="en-US" dirty="0"/>
            </a:br>
            <a: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 build -t </a:t>
            </a:r>
            <a:r>
              <a:rPr lang="en-US" sz="1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osram.values.api</a:t>
            </a:r>
            <a: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.	</a:t>
            </a:r>
            <a:endParaRPr lang="en-US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Verify : </a:t>
            </a:r>
            <a: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 images </a:t>
            </a:r>
            <a:b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2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CEABAA-55F3-43EC-B7E0-EB53F1B9708D}"/>
              </a:ext>
            </a:extLst>
          </p:cNvPr>
          <p:cNvSpPr/>
          <p:nvPr/>
        </p:nvSpPr>
        <p:spPr>
          <a:xfrm>
            <a:off x="10503916" y="122882"/>
            <a:ext cx="157607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Hands-on Lab</a:t>
            </a:r>
          </a:p>
        </p:txBody>
      </p:sp>
    </p:spTree>
    <p:extLst>
      <p:ext uri="{BB962C8B-B14F-4D97-AF65-F5344CB8AC3E}">
        <p14:creationId xmlns:p14="http://schemas.microsoft.com/office/powerpoint/2010/main" val="2097443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653D0-DC99-41CF-A945-4835F592A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Values API – Run Docker Container on Local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790BF-AD9A-4DFF-8266-745067E4A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the following command to create a container from the image we created in the previous slide:</a:t>
            </a:r>
          </a:p>
          <a:p>
            <a:pPr lvl="1"/>
            <a: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 run </a:t>
            </a:r>
            <a:r>
              <a:rPr lang="en-US" sz="1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osram.values.api</a:t>
            </a:r>
            <a: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–p 5000:5000</a:t>
            </a:r>
          </a:p>
          <a:p>
            <a:pPr lvl="1"/>
            <a:r>
              <a:rPr lang="en-US" dirty="0"/>
              <a:t>To verify, browse: </a:t>
            </a:r>
            <a:r>
              <a:rPr lang="en-US" dirty="0">
                <a:hlinkClick r:id="rId2"/>
              </a:rPr>
              <a:t>http://localhost:5000/api/values</a:t>
            </a:r>
            <a:r>
              <a:rPr lang="en-US" dirty="0"/>
              <a:t> </a:t>
            </a:r>
          </a:p>
          <a:p>
            <a:r>
              <a:rPr lang="en-US" dirty="0"/>
              <a:t>Kill the process (CTRL-C)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29B746-F15F-4CFE-96F5-4E13B303470A}"/>
              </a:ext>
            </a:extLst>
          </p:cNvPr>
          <p:cNvSpPr/>
          <p:nvPr/>
        </p:nvSpPr>
        <p:spPr>
          <a:xfrm>
            <a:off x="10503916" y="122882"/>
            <a:ext cx="157607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Hands-on Lab</a:t>
            </a:r>
          </a:p>
        </p:txBody>
      </p:sp>
    </p:spTree>
    <p:extLst>
      <p:ext uri="{BB962C8B-B14F-4D97-AF65-F5344CB8AC3E}">
        <p14:creationId xmlns:p14="http://schemas.microsoft.com/office/powerpoint/2010/main" val="31352723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653D0-DC99-41CF-A945-4835F592A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Values API – Connecting to a running Container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790BF-AD9A-4DFF-8266-745067E4A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the previous command with additional parameter (-d):</a:t>
            </a:r>
          </a:p>
          <a:p>
            <a:pPr lvl="1"/>
            <a: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 run </a:t>
            </a:r>
            <a:r>
              <a:rPr lang="en-US" sz="1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osram.values.api</a:t>
            </a:r>
            <a: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–p 5000:5000 -d</a:t>
            </a:r>
            <a:b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2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To see the running containers </a:t>
            </a:r>
          </a:p>
          <a:p>
            <a:pPr lvl="1"/>
            <a: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 </a:t>
            </a:r>
            <a:r>
              <a:rPr lang="en-US" sz="1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br>
              <a:rPr lang="en-US" dirty="0"/>
            </a:br>
            <a:endParaRPr lang="en-US" dirty="0"/>
          </a:p>
          <a:p>
            <a:r>
              <a:rPr lang="en-US" dirty="0"/>
              <a:t>Connect to the running container</a:t>
            </a:r>
          </a:p>
          <a:p>
            <a:pPr lvl="1"/>
            <a: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 exec -it [</a:t>
            </a:r>
            <a:r>
              <a:rPr lang="en-US" sz="1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containerId</a:t>
            </a:r>
            <a: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/bin/bash</a:t>
            </a:r>
            <a:r>
              <a:rPr lang="en-US" dirty="0"/>
              <a:t> </a:t>
            </a:r>
          </a:p>
          <a:p>
            <a:pPr lvl="1"/>
            <a:endParaRPr lang="en-US" dirty="0"/>
          </a:p>
          <a:p>
            <a:r>
              <a:rPr lang="en-US" dirty="0"/>
              <a:t>Now we can run any Linux bash command </a:t>
            </a:r>
          </a:p>
          <a:p>
            <a:r>
              <a:rPr lang="en-US" dirty="0"/>
              <a:t>To exit from the container, type ‘exit’ and Enter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29B746-F15F-4CFE-96F5-4E13B303470A}"/>
              </a:ext>
            </a:extLst>
          </p:cNvPr>
          <p:cNvSpPr/>
          <p:nvPr/>
        </p:nvSpPr>
        <p:spPr>
          <a:xfrm>
            <a:off x="10503916" y="122882"/>
            <a:ext cx="157607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Hands-on Lab</a:t>
            </a:r>
          </a:p>
        </p:txBody>
      </p:sp>
    </p:spTree>
    <p:extLst>
      <p:ext uri="{BB962C8B-B14F-4D97-AF65-F5344CB8AC3E}">
        <p14:creationId xmlns:p14="http://schemas.microsoft.com/office/powerpoint/2010/main" val="2457318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653D0-DC99-41CF-A945-4835F592A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Values API – Pushing Local Docker Image to Remote Docker Repo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790BF-AD9A-4DFF-8266-745067E4A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11280205" cy="388077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Login to docker repo (ACR)</a:t>
            </a:r>
            <a:br>
              <a:rPr lang="en-US" dirty="0"/>
            </a:br>
            <a:r>
              <a:rPr lang="en-US" sz="1100" i="1" dirty="0"/>
              <a:t>USERNAME and PASSWORD will be provided</a:t>
            </a:r>
            <a:endParaRPr lang="en-US" i="1" dirty="0"/>
          </a:p>
          <a:p>
            <a:pPr lvl="1"/>
            <a: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 login osrammarkhamdev.azurecr.io –u USERNAME –p PASSWORD</a:t>
            </a:r>
            <a:b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2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Tag the local docker image  </a:t>
            </a:r>
          </a:p>
          <a:p>
            <a:pPr lvl="1"/>
            <a: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 tag [your-docker-image-id] osrammarkhamdev.azurecr.io/</a:t>
            </a:r>
            <a:r>
              <a:rPr lang="en-US" sz="1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workshop-values-api:yourfirstname.yourlastname</a:t>
            </a:r>
            <a: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br>
              <a:rPr lang="en-US" dirty="0"/>
            </a:br>
            <a:endParaRPr lang="en-US" dirty="0"/>
          </a:p>
          <a:p>
            <a:r>
              <a:rPr lang="en-US" dirty="0"/>
              <a:t>Push the image</a:t>
            </a:r>
          </a:p>
          <a:p>
            <a:pPr lvl="1"/>
            <a:r>
              <a:rPr lang="en-US" sz="13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 push osrammarkhamdev.azurecr.io/</a:t>
            </a:r>
            <a:r>
              <a:rPr lang="en-US" sz="13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workshop-values-api:yourfirstname.yourlastname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1"/>
            <a:endParaRPr lang="en-US" dirty="0"/>
          </a:p>
          <a:p>
            <a:r>
              <a:rPr lang="en-US" dirty="0"/>
              <a:t>Now we can run any Linux bash command </a:t>
            </a:r>
          </a:p>
          <a:p>
            <a:r>
              <a:rPr lang="en-US" dirty="0"/>
              <a:t>To exit from the container, type ‘exit’ and Enter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29B746-F15F-4CFE-96F5-4E13B303470A}"/>
              </a:ext>
            </a:extLst>
          </p:cNvPr>
          <p:cNvSpPr/>
          <p:nvPr/>
        </p:nvSpPr>
        <p:spPr>
          <a:xfrm>
            <a:off x="10503916" y="122882"/>
            <a:ext cx="157607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Hands-on Lab</a:t>
            </a:r>
          </a:p>
        </p:txBody>
      </p:sp>
    </p:spTree>
    <p:extLst>
      <p:ext uri="{BB962C8B-B14F-4D97-AF65-F5344CB8AC3E}">
        <p14:creationId xmlns:p14="http://schemas.microsoft.com/office/powerpoint/2010/main" val="84448341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1497</TotalTime>
  <Words>721</Words>
  <Application>Microsoft Office PowerPoint</Application>
  <PresentationFormat>Widescreen</PresentationFormat>
  <Paragraphs>149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Courier New</vt:lpstr>
      <vt:lpstr>Trebuchet MS</vt:lpstr>
      <vt:lpstr>Wingdings 3</vt:lpstr>
      <vt:lpstr>Facet</vt:lpstr>
      <vt:lpstr>Step by Step Dotnetcore API </vt:lpstr>
      <vt:lpstr>Table of Contents</vt:lpstr>
      <vt:lpstr>Target Architecture – What are we building</vt:lpstr>
      <vt:lpstr>Docker - Containers</vt:lpstr>
      <vt:lpstr>Docker - Installing Docker for Windows</vt:lpstr>
      <vt:lpstr>Docker – Docker Hub / Hello World</vt:lpstr>
      <vt:lpstr>Docker – Dockerfile</vt:lpstr>
      <vt:lpstr>Docker – Azure Container Registry</vt:lpstr>
      <vt:lpstr>Values API – Setup local</vt:lpstr>
      <vt:lpstr>Values API – Create Values API</vt:lpstr>
      <vt:lpstr>Values API – Publish the API Runtimes</vt:lpstr>
      <vt:lpstr>Values API – Dockerize</vt:lpstr>
      <vt:lpstr>Values API – Run Docker Container on Local</vt:lpstr>
      <vt:lpstr>Values API – Connecting to a running Container</vt:lpstr>
      <vt:lpstr>Values API – Pushing Local Docker Image to Remote Docker Repo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by Step Dotnetcore API</dc:title>
  <dc:creator>Omer Yesil</dc:creator>
  <cp:lastModifiedBy>Omer Yesil</cp:lastModifiedBy>
  <cp:revision>51</cp:revision>
  <dcterms:created xsi:type="dcterms:W3CDTF">2019-02-04T16:01:50Z</dcterms:created>
  <dcterms:modified xsi:type="dcterms:W3CDTF">2019-02-07T17:53:18Z</dcterms:modified>
</cp:coreProperties>
</file>